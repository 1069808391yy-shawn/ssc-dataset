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</p:sldIdLst>
  <p:sldSz cx="329184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9917"/>
    <p:restoredTop sz="94737"/>
  </p:normalViewPr>
  <p:slideViewPr>
    <p:cSldViewPr snapToGrid="0">
      <p:cViewPr>
        <p:scale>
          <a:sx n="25" d="100"/>
          <a:sy n="25" d="100"/>
        </p:scale>
        <p:origin x="196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5387342"/>
            <a:ext cx="27980640" cy="11460480"/>
          </a:xfrm>
        </p:spPr>
        <p:txBody>
          <a:bodyPr anchor="b"/>
          <a:lstStyle>
            <a:lvl1pPr algn="ctr">
              <a:defRPr sz="2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17289782"/>
            <a:ext cx="24688800" cy="7947658"/>
          </a:xfrm>
        </p:spPr>
        <p:txBody>
          <a:bodyPr/>
          <a:lstStyle>
            <a:lvl1pPr marL="0" indent="0" algn="ctr">
              <a:buNone/>
              <a:defRPr sz="8640"/>
            </a:lvl1pPr>
            <a:lvl2pPr marL="1645920" indent="0" algn="ctr">
              <a:buNone/>
              <a:defRPr sz="7200"/>
            </a:lvl2pPr>
            <a:lvl3pPr marL="3291840" indent="0" algn="ctr">
              <a:buNone/>
              <a:defRPr sz="6480"/>
            </a:lvl3pPr>
            <a:lvl4pPr marL="4937760" indent="0" algn="ctr">
              <a:buNone/>
              <a:defRPr sz="5760"/>
            </a:lvl4pPr>
            <a:lvl5pPr marL="6583680" indent="0" algn="ctr">
              <a:buNone/>
              <a:defRPr sz="5760"/>
            </a:lvl5pPr>
            <a:lvl6pPr marL="8229600" indent="0" algn="ctr">
              <a:buNone/>
              <a:defRPr sz="5760"/>
            </a:lvl6pPr>
            <a:lvl7pPr marL="9875520" indent="0" algn="ctr">
              <a:buNone/>
              <a:defRPr sz="5760"/>
            </a:lvl7pPr>
            <a:lvl8pPr marL="11521440" indent="0" algn="ctr">
              <a:buNone/>
              <a:defRPr sz="5760"/>
            </a:lvl8pPr>
            <a:lvl9pPr marL="13167360" indent="0" algn="ctr">
              <a:buNone/>
              <a:defRPr sz="5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5997" y="8206749"/>
            <a:ext cx="28392120" cy="13693138"/>
          </a:xfrm>
        </p:spPr>
        <p:txBody>
          <a:bodyPr anchor="b"/>
          <a:lstStyle>
            <a:lvl1pPr>
              <a:defRPr sz="2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45997" y="22029429"/>
            <a:ext cx="28392120" cy="7200898"/>
          </a:xfrm>
        </p:spPr>
        <p:txBody>
          <a:bodyPr/>
          <a:lstStyle>
            <a:lvl1pPr marL="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1pPr>
            <a:lvl2pPr marL="164592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2pPr>
            <a:lvl3pPr marL="3291840" indent="0">
              <a:buNone/>
              <a:defRPr sz="6480">
                <a:solidFill>
                  <a:schemeClr val="tx1">
                    <a:tint val="82000"/>
                  </a:schemeClr>
                </a:solidFill>
              </a:defRPr>
            </a:lvl3pPr>
            <a:lvl4pPr marL="493776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4pPr>
            <a:lvl5pPr marL="658368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5pPr>
            <a:lvl6pPr marL="822960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6pPr>
            <a:lvl7pPr marL="987552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7pPr>
            <a:lvl8pPr marL="1152144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8pPr>
            <a:lvl9pPr marL="1316736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63140" y="8763000"/>
            <a:ext cx="1399032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664940" y="8763000"/>
            <a:ext cx="1399032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752607"/>
            <a:ext cx="2839212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7431" y="8069582"/>
            <a:ext cx="13926024" cy="3954778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67431" y="12024360"/>
            <a:ext cx="13926024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664942" y="8069582"/>
            <a:ext cx="13994608" cy="3954778"/>
          </a:xfrm>
        </p:spPr>
        <p:txBody>
          <a:bodyPr anchor="b"/>
          <a:lstStyle>
            <a:lvl1pPr marL="0" indent="0">
              <a:buNone/>
              <a:defRPr sz="8640" b="1"/>
            </a:lvl1pPr>
            <a:lvl2pPr marL="1645920" indent="0">
              <a:buNone/>
              <a:defRPr sz="7200" b="1"/>
            </a:lvl2pPr>
            <a:lvl3pPr marL="3291840" indent="0">
              <a:buNone/>
              <a:defRPr sz="6480" b="1"/>
            </a:lvl3pPr>
            <a:lvl4pPr marL="4937760" indent="0">
              <a:buNone/>
              <a:defRPr sz="5760" b="1"/>
            </a:lvl4pPr>
            <a:lvl5pPr marL="6583680" indent="0">
              <a:buNone/>
              <a:defRPr sz="5760" b="1"/>
            </a:lvl5pPr>
            <a:lvl6pPr marL="8229600" indent="0">
              <a:buNone/>
              <a:defRPr sz="5760" b="1"/>
            </a:lvl6pPr>
            <a:lvl7pPr marL="9875520" indent="0">
              <a:buNone/>
              <a:defRPr sz="5760" b="1"/>
            </a:lvl7pPr>
            <a:lvl8pPr marL="11521440" indent="0">
              <a:buNone/>
              <a:defRPr sz="5760" b="1"/>
            </a:lvl8pPr>
            <a:lvl9pPr marL="13167360" indent="0">
              <a:buNone/>
              <a:defRPr sz="576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664942" y="12024360"/>
            <a:ext cx="13994608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2194560"/>
            <a:ext cx="10617041" cy="768096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94608" y="4739647"/>
            <a:ext cx="16664940" cy="23393400"/>
          </a:xfrm>
        </p:spPr>
        <p:txBody>
          <a:bodyPr/>
          <a:lstStyle>
            <a:lvl1pPr>
              <a:defRPr sz="11520"/>
            </a:lvl1pPr>
            <a:lvl2pPr>
              <a:defRPr sz="10080"/>
            </a:lvl2pPr>
            <a:lvl3pPr>
              <a:defRPr sz="864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9875520"/>
            <a:ext cx="10617041" cy="18295622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2194560"/>
            <a:ext cx="10617041" cy="7680960"/>
          </a:xfrm>
        </p:spPr>
        <p:txBody>
          <a:bodyPr anchor="b"/>
          <a:lstStyle>
            <a:lvl1pPr>
              <a:defRPr sz="11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94608" y="4739647"/>
            <a:ext cx="16664940" cy="23393400"/>
          </a:xfrm>
        </p:spPr>
        <p:txBody>
          <a:bodyPr anchor="t"/>
          <a:lstStyle>
            <a:lvl1pPr marL="0" indent="0">
              <a:buNone/>
              <a:defRPr sz="11520"/>
            </a:lvl1pPr>
            <a:lvl2pPr marL="1645920" indent="0">
              <a:buNone/>
              <a:defRPr sz="10080"/>
            </a:lvl2pPr>
            <a:lvl3pPr marL="3291840" indent="0">
              <a:buNone/>
              <a:defRPr sz="8640"/>
            </a:lvl3pPr>
            <a:lvl4pPr marL="4937760" indent="0">
              <a:buNone/>
              <a:defRPr sz="7200"/>
            </a:lvl4pPr>
            <a:lvl5pPr marL="6583680" indent="0">
              <a:buNone/>
              <a:defRPr sz="7200"/>
            </a:lvl5pPr>
            <a:lvl6pPr marL="8229600" indent="0">
              <a:buNone/>
              <a:defRPr sz="7200"/>
            </a:lvl6pPr>
            <a:lvl7pPr marL="9875520" indent="0">
              <a:buNone/>
              <a:defRPr sz="7200"/>
            </a:lvl7pPr>
            <a:lvl8pPr marL="11521440" indent="0">
              <a:buNone/>
              <a:defRPr sz="7200"/>
            </a:lvl8pPr>
            <a:lvl9pPr marL="13167360" indent="0">
              <a:buNone/>
              <a:defRPr sz="7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9875520"/>
            <a:ext cx="10617041" cy="18295622"/>
          </a:xfrm>
        </p:spPr>
        <p:txBody>
          <a:bodyPr/>
          <a:lstStyle>
            <a:lvl1pPr marL="0" indent="0">
              <a:buNone/>
              <a:defRPr sz="5760"/>
            </a:lvl1pPr>
            <a:lvl2pPr marL="1645920" indent="0">
              <a:buNone/>
              <a:defRPr sz="5040"/>
            </a:lvl2pPr>
            <a:lvl3pPr marL="3291840" indent="0">
              <a:buNone/>
              <a:defRPr sz="4320"/>
            </a:lvl3pPr>
            <a:lvl4pPr marL="4937760" indent="0">
              <a:buNone/>
              <a:defRPr sz="3600"/>
            </a:lvl4pPr>
            <a:lvl5pPr marL="6583680" indent="0">
              <a:buNone/>
              <a:defRPr sz="3600"/>
            </a:lvl5pPr>
            <a:lvl6pPr marL="8229600" indent="0">
              <a:buNone/>
              <a:defRPr sz="3600"/>
            </a:lvl6pPr>
            <a:lvl7pPr marL="9875520" indent="0">
              <a:buNone/>
              <a:defRPr sz="3600"/>
            </a:lvl7pPr>
            <a:lvl8pPr marL="11521440" indent="0">
              <a:buNone/>
              <a:defRPr sz="3600"/>
            </a:lvl8pPr>
            <a:lvl9pPr marL="13167360" indent="0">
              <a:buNone/>
              <a:defRPr sz="3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557232" y="1752600"/>
            <a:ext cx="709803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63142" y="1752600"/>
            <a:ext cx="2088261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097D-BF14-0048-A1F1-91A4B3DB23C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9E7E3-3D05-DC41-B909-139336B5BB9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3140" y="1752607"/>
            <a:ext cx="2839212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3140" y="8763000"/>
            <a:ext cx="2839212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63140" y="30510487"/>
            <a:ext cx="74066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7E097D-BF14-0048-A1F1-91A4B3DB23C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04220" y="30510487"/>
            <a:ext cx="111099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248620" y="30510487"/>
            <a:ext cx="74066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3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29E7E3-3D05-DC41-B909-139336B5BB98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291840" rtl="0" eaLnBrk="1" latinLnBrk="0" hangingPunct="1">
        <a:lnSpc>
          <a:spcPct val="90000"/>
        </a:lnSpc>
        <a:spcBef>
          <a:spcPct val="0"/>
        </a:spcBef>
        <a:buNone/>
        <a:defRPr sz="15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22960" indent="-822960" algn="l" defTabSz="3291840" rtl="0" eaLnBrk="1" latinLnBrk="0" hangingPunct="1">
        <a:lnSpc>
          <a:spcPct val="90000"/>
        </a:lnSpc>
        <a:spcBef>
          <a:spcPts val="3600"/>
        </a:spcBef>
        <a:buFont typeface="Arial" panose="020B060402020209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4688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740664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905256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106984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23444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9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406" y="182880"/>
            <a:ext cx="32504865" cy="3381901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629059" y="641851"/>
            <a:ext cx="27670066" cy="167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65" marR="5080" algn="ctr">
              <a:lnSpc>
                <a:spcPct val="107000"/>
              </a:lnSpc>
              <a:spcBef>
                <a:spcPts val="20"/>
              </a:spcBef>
            </a:pPr>
            <a:r>
              <a:rPr lang="en-US" sz="5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Segoe UI" panose="020B0502040204020203" pitchFamily="34" charset="0"/>
              </a:rPr>
              <a:t>Differential Diagnosis across the Parkinsonian Spectrum</a:t>
            </a:r>
            <a:endParaRPr lang="en-US" sz="5400" b="1" kern="1200" dirty="0">
              <a:solidFill>
                <a:schemeClr val="bg1"/>
              </a:solidFill>
              <a:latin typeface="Century Gothic" panose="020B0502020202020204" pitchFamily="34" charset="0"/>
              <a:ea typeface="+mn-ea"/>
              <a:cs typeface="Segoe UI" panose="020B0502040204020203" pitchFamily="34" charset="0"/>
            </a:endParaRPr>
          </a:p>
          <a:p>
            <a:pPr marL="12065" marR="5080" algn="ctr">
              <a:lnSpc>
                <a:spcPct val="107000"/>
              </a:lnSpc>
              <a:spcBef>
                <a:spcPts val="20"/>
              </a:spcBef>
            </a:pPr>
            <a:r>
              <a:rPr lang="en-US" sz="44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Century Gothic" panose="020B0502020202020204" pitchFamily="34" charset="0"/>
              </a:rPr>
              <a:t>Multi-Center Validation of Classification Models for PD, PD-Plus, and Neurologically Healthy Controls</a:t>
            </a:r>
            <a:endParaRPr lang="en-US" sz="4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33350" y="17668240"/>
            <a:ext cx="8225155" cy="1479994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lang="en-US" sz="3200" spc="-10" dirty="0">
                <a:solidFill>
                  <a:srgbClr val="0070C0"/>
                </a:solidFill>
                <a:latin typeface="Times New Roman" panose="02020503050405090304" charset="0"/>
                <a:cs typeface="Times New Roman" panose="02020503050405090304" charset="0"/>
                <a:sym typeface="+mn-ea"/>
              </a:rPr>
              <a:t>Variables: </a:t>
            </a:r>
            <a:endParaRPr lang="en-US" sz="3200" spc="-10" dirty="0">
              <a:solidFill>
                <a:srgbClr val="0070C0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584200" indent="-5715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sz="3200" spc="-10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Demographics: Age at visit, Gender</a:t>
            </a:r>
            <a:endParaRPr lang="en-US" sz="32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584200" indent="-5715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200" spc="-10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Clinical: disease duration, age at diagnosis, current symptoms, symptom laterality, loss of smell, dominant hand, exercise, coffee intake</a:t>
            </a:r>
            <a:endParaRPr lang="en-US" altLang="zh-CN" sz="32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584200" indent="-5715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200" spc="-10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Behavioural: MBI-C, BDI-II, MoCA, EHI score</a:t>
            </a:r>
            <a:endParaRPr lang="en-US" altLang="zh-CN" sz="32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12700" indent="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None/>
            </a:pPr>
            <a:r>
              <a:rPr lang="en-US" altLang="zh-CN" sz="3200" spc="-10" dirty="0">
                <a:solidFill>
                  <a:srgbClr val="0070C0"/>
                </a:solidFill>
                <a:latin typeface="Times New Roman" panose="02020503050405090304" charset="0"/>
                <a:cs typeface="Times New Roman" panose="02020503050405090304" charset="0"/>
                <a:sym typeface="+mn-ea"/>
              </a:rPr>
              <a:t>Preprocessing:</a:t>
            </a:r>
            <a:endParaRPr lang="en-US" altLang="zh-CN" sz="3200" spc="-10" dirty="0">
              <a:solidFill>
                <a:srgbClr val="0070C0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527050" indent="-51435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AutoNum type="arabicPeriod"/>
            </a:pPr>
            <a:r>
              <a:rPr lang="en-US" altLang="zh-CN" sz="3200" spc="-10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Median imputation for continuous variables; constant "missing" imputation for categorical variables to handle high missingness rates.</a:t>
            </a:r>
            <a:endParaRPr lang="en-US" altLang="zh-CN" sz="3200" spc="-10" dirty="0">
              <a:latin typeface="Times New Roman" panose="02020503050405090304" charset="0"/>
              <a:cs typeface="Times New Roman" panose="02020503050405090304" charset="0"/>
              <a:sym typeface="+mn-ea"/>
            </a:endParaRPr>
          </a:p>
          <a:p>
            <a:pPr marL="527050" indent="-51435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AutoNum type="arabicPeriod"/>
            </a:pPr>
            <a:r>
              <a:rPr lang="en-US" altLang="zh-CN" sz="3200" spc="-10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StandardScaler for continuous variables; one-hot encoding for categorical variables</a:t>
            </a:r>
            <a:endParaRPr lang="en-US" altLang="zh-CN" sz="32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527050" indent="-51435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AutoNum type="arabicPeriod"/>
            </a:pPr>
            <a:r>
              <a:rPr lang="en-US" altLang="zh-CN" sz="3200" spc="-10" dirty="0">
                <a:latin typeface="Times New Roman" panose="02020503050405090304" charset="0"/>
                <a:cs typeface="Times New Roman" panose="02020503050405090304" charset="0"/>
                <a:sym typeface="+mn-ea"/>
              </a:rPr>
              <a:t>SMOTE applied to address class imbalance.</a:t>
            </a:r>
            <a:endParaRPr lang="en-US" altLang="zh-CN" sz="3200" spc="-10" dirty="0">
              <a:latin typeface="Times New Roman" panose="02020503050405090304" charset="0"/>
              <a:cs typeface="Times New Roman" panose="02020503050405090304" charset="0"/>
              <a:sym typeface="+mn-ea"/>
            </a:endParaRPr>
          </a:p>
          <a:p>
            <a:pPr marL="12700" indent="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None/>
            </a:pPr>
            <a:r>
              <a:rPr lang="en-US" altLang="zh-CN" sz="3200" spc="-10" dirty="0">
                <a:solidFill>
                  <a:srgbClr val="0070C0"/>
                </a:solidFill>
                <a:latin typeface="Times New Roman" panose="02020503050405090304" charset="0"/>
                <a:cs typeface="Times New Roman" panose="02020503050405090304" charset="0"/>
              </a:rPr>
              <a:t>5 Candidate Models: </a:t>
            </a:r>
            <a:endParaRPr lang="en-US" altLang="zh-CN" sz="3200" spc="-10" dirty="0">
              <a:solidFill>
                <a:srgbClr val="0070C0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12700" indent="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None/>
            </a:pPr>
            <a:r>
              <a:rPr lang="en-US" altLang="zh-CN" sz="3200" spc="-1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Logistic Regression, Random Forest, SVM, Gradient Boosting, K-Nearest Neighbors (KNN)</a:t>
            </a:r>
            <a:endParaRPr lang="en-US" altLang="zh-CN" sz="32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12700" indent="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None/>
            </a:pPr>
            <a:r>
              <a:rPr lang="en-US" altLang="zh-CN" sz="3200" spc="-10" dirty="0">
                <a:solidFill>
                  <a:srgbClr val="0070C0"/>
                </a:solidFill>
                <a:latin typeface="Times New Roman" panose="02020503050405090304" charset="0"/>
                <a:cs typeface="Times New Roman" panose="02020503050405090304" charset="0"/>
              </a:rPr>
              <a:t>Model Selection:</a:t>
            </a:r>
            <a:endParaRPr lang="en-US" altLang="zh-CN" sz="3200" spc="-10" dirty="0">
              <a:solidFill>
                <a:srgbClr val="0070C0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469900" indent="-4572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200" spc="-1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5-fold cross-validation optimized on Macro F1</a:t>
            </a:r>
            <a:endParaRPr lang="en-US" altLang="zh-CN" sz="32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469900" indent="-4572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200" spc="-1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Hyperparameter tuning via GridSearchCV</a:t>
            </a:r>
            <a:endParaRPr lang="en-US" altLang="zh-CN" sz="32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469900" indent="-457200" algn="l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200" spc="-1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Final model selected based on highest Macro F1 score on a stratified held-out test set (20%)</a:t>
            </a:r>
            <a:endParaRPr lang="en-US" altLang="zh-CN" sz="32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12700" indent="0" algn="l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None/>
            </a:pPr>
            <a:r>
              <a:rPr lang="en-US" altLang="zh-CN" sz="3200" spc="-10" dirty="0">
                <a:solidFill>
                  <a:srgbClr val="0070C0"/>
                </a:solidFill>
                <a:latin typeface="Times New Roman" panose="02020503050405090304" charset="0"/>
                <a:cs typeface="Times New Roman" panose="02020503050405090304" charset="0"/>
              </a:rPr>
              <a:t>Modelling Diagnosis:</a:t>
            </a:r>
            <a:endParaRPr lang="en-US" altLang="zh-CN" sz="3200" spc="-10" dirty="0">
              <a:solidFill>
                <a:srgbClr val="0070C0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469900" indent="-4572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200" spc="-1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Stage 1: Classify all participants as Healthy Control vs. Parkinsonism</a:t>
            </a:r>
            <a:endParaRPr lang="en-US" altLang="zh-CN" sz="32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469900" indent="-4572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200" spc="-1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Stage 2: Among identified parkinsonism cases, further classify as PD vs. PD-plus.</a:t>
            </a:r>
            <a:endParaRPr lang="en-US" altLang="zh-CN" sz="32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469900" indent="-457200">
              <a:lnSpc>
                <a:spcPct val="100000"/>
              </a:lnSpc>
              <a:spcBef>
                <a:spcPts val="395"/>
              </a:spcBef>
              <a:buFont typeface="Arial" panose="020B0604020202090204" pitchFamily="34" charset="0"/>
              <a:buChar char="•"/>
            </a:pPr>
            <a:r>
              <a:rPr lang="en-US" altLang="zh-CN" sz="3200" spc="-1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All five models applied independently at each stage using the same preprocessing pipeline.</a:t>
            </a:r>
            <a:endParaRPr lang="en-US" altLang="zh-CN" sz="3200" spc="-1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803429" y="17836123"/>
            <a:ext cx="1761348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tx2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1. Healthy Controls vs Parkinson’s</a:t>
            </a:r>
            <a:endParaRPr lang="en-US" sz="4500" dirty="0"/>
          </a:p>
        </p:txBody>
      </p:sp>
      <p:sp>
        <p:nvSpPr>
          <p:cNvPr id="37" name="TextBox 36"/>
          <p:cNvSpPr txBox="1"/>
          <p:nvPr/>
        </p:nvSpPr>
        <p:spPr>
          <a:xfrm>
            <a:off x="180407" y="8721769"/>
            <a:ext cx="8414790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Background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984404" y="4656268"/>
            <a:ext cx="1020137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spcBef>
                <a:spcPts val="395"/>
              </a:spcBef>
            </a:pPr>
            <a:r>
              <a:rPr lang="en-US" sz="4000" b="1" spc="-10" dirty="0">
                <a:solidFill>
                  <a:schemeClr val="tx2"/>
                </a:solidFill>
                <a:latin typeface="Cambria" panose="02040503050406030204" pitchFamily="18" charset="0"/>
                <a:cs typeface="Tahoma" panose="020B0604030504040204"/>
              </a:rPr>
              <a:t>Data</a:t>
            </a:r>
            <a:endParaRPr lang="en-US" sz="4000" b="1" spc="-10" dirty="0">
              <a:solidFill>
                <a:schemeClr val="tx2"/>
              </a:solidFill>
              <a:latin typeface="Cambria" panose="02040503050406030204" pitchFamily="18" charset="0"/>
              <a:cs typeface="Tahoma" panose="020B0604030504040204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1147542" y="4813639"/>
            <a:ext cx="1761348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tx2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2. PD vs PD-Plus</a:t>
            </a:r>
            <a:endParaRPr lang="en-US" sz="4500" dirty="0"/>
          </a:p>
        </p:txBody>
      </p:sp>
      <p:sp>
        <p:nvSpPr>
          <p:cNvPr id="56" name="TextBox 55"/>
          <p:cNvSpPr txBox="1"/>
          <p:nvPr/>
        </p:nvSpPr>
        <p:spPr>
          <a:xfrm>
            <a:off x="6950095" y="2441241"/>
            <a:ext cx="2042160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800" b="0" i="0" u="none" strike="noStrike" dirty="0" err="1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Shuxi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 Wu</a:t>
            </a:r>
            <a:r>
              <a:rPr lang="en-US" sz="2800" b="0" i="0" u="none" strike="noStrike" baseline="30000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1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, Vivienne Wang</a:t>
            </a:r>
            <a:r>
              <a:rPr lang="en-US" sz="2800" b="0" i="0" u="none" strike="noStrike" baseline="30000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1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, </a:t>
            </a:r>
            <a:r>
              <a:rPr lang="en-US" sz="2800" b="0" i="0" u="none" strike="noStrike" dirty="0" err="1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Jianyue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 Bai</a:t>
            </a:r>
            <a:r>
              <a:rPr lang="en-US" sz="2800" b="0" i="0" u="none" strike="noStrike" baseline="30000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1</a:t>
            </a:r>
            <a:r>
              <a:rPr lang="en-US" sz="2800" b="0" i="0" u="none" strike="noStrike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, Javier Mencia Ledo</a:t>
            </a:r>
            <a:r>
              <a:rPr lang="en-US" sz="2800" b="0" i="0" u="none" strike="noStrike" baseline="30000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1</a:t>
            </a:r>
            <a:endParaRPr lang="en-US" sz="2800" b="0" dirty="0">
              <a:solidFill>
                <a:schemeClr val="bg1"/>
              </a:solidFill>
              <a:effectLst/>
            </a:endParaRPr>
          </a:p>
          <a:p>
            <a:pPr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b="0" i="0" u="none" strike="noStrike" baseline="30000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1</a:t>
            </a:r>
            <a:r>
              <a:rPr lang="en-US" sz="2000" b="0" i="0" u="none" strike="noStrike" dirty="0">
                <a:solidFill>
                  <a:schemeClr val="bg1"/>
                </a:solidFill>
                <a:effectLst/>
                <a:latin typeface="Georgia" panose="02040502050405090303" pitchFamily="18" charset="0"/>
              </a:rPr>
              <a:t>Dalla Lana School of Public Health, Biostatistics Division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99504" y="12823509"/>
            <a:ext cx="8443444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Objectives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88404" y="17050756"/>
            <a:ext cx="8443444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Methods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8804257" y="3885682"/>
            <a:ext cx="23881014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Results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21136610" y="21459825"/>
            <a:ext cx="11642090" cy="78359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Conclusion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189957" y="3899782"/>
            <a:ext cx="8443444" cy="784830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bg1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Overview</a:t>
            </a:r>
            <a:endParaRPr lang="en-US" sz="4500" dirty="0">
              <a:solidFill>
                <a:schemeClr val="bg1"/>
              </a:solidFill>
            </a:endParaRPr>
          </a:p>
        </p:txBody>
      </p:sp>
      <p:pic>
        <p:nvPicPr>
          <p:cNvPr id="1028" name="Picture 4" descr="Communications &amp; Branding Resources - Dalla Lana School of Public Health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4" y="2122383"/>
            <a:ext cx="4276326" cy="12444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6" name="Table 85"/>
          <p:cNvGraphicFramePr>
            <a:graphicFrameLocks noGrp="1"/>
          </p:cNvGraphicFramePr>
          <p:nvPr/>
        </p:nvGraphicFramePr>
        <p:xfrm>
          <a:off x="8804257" y="5308270"/>
          <a:ext cx="11966575" cy="12506325"/>
        </p:xfrm>
        <a:graphic>
          <a:graphicData uri="http://schemas.openxmlformats.org/drawingml/2006/table">
            <a:tbl>
              <a:tblPr/>
              <a:tblGrid>
                <a:gridCol w="3064266"/>
                <a:gridCol w="2225651"/>
                <a:gridCol w="2225675"/>
                <a:gridCol w="2225627"/>
                <a:gridCol w="2225651"/>
              </a:tblGrid>
              <a:tr h="85280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600" b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 </a:t>
                      </a:r>
                      <a:endParaRPr lang="en-US" sz="3600" b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600" b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Overall</a:t>
                      </a:r>
                      <a:endParaRPr lang="en-US" sz="3600" b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6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PD</a:t>
                      </a:r>
                      <a:endParaRPr lang="en-US" sz="36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6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Healthy control</a:t>
                      </a:r>
                      <a:endParaRPr lang="en-US" sz="36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6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PD-Plus</a:t>
                      </a:r>
                      <a:endParaRPr lang="en-US" sz="36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</a:tr>
              <a:tr h="612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Sample Size (n)</a:t>
                      </a:r>
                      <a:endParaRPr lang="en-US" sz="32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3541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2852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410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171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79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Current Age</a:t>
                      </a:r>
                      <a:endParaRPr lang="en-US" sz="32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66.20 (10.04)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66.59 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(9.59)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62.54 (12.22)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66.64 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(11.71)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79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Number of Males</a:t>
                      </a:r>
                      <a:endParaRPr lang="en-US" sz="32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1804 (50.9%)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1612 (56.5%)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181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(44.1%)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78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(45.6%)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9151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Disease Duration</a:t>
                      </a:r>
                      <a:endParaRPr lang="en-US" sz="32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9.64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(6.01)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9.83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(5.98)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---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6.05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(5.50)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8421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MoCA Score</a:t>
                      </a:r>
                      <a:endParaRPr lang="en-US" sz="32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26.70 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(2.71)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26.58 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(2.53)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27.78 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(3.15)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22.00 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(nan)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79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BDI Score</a:t>
                      </a:r>
                      <a:endParaRPr lang="en-US" sz="32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9.65 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(7.53)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9.66 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(7.35)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6.24 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(5.93)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16.76 (10.45)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0531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MBI Score</a:t>
                      </a:r>
                      <a:endParaRPr lang="en-US" sz="32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0 .94 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(4.22)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0.93 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(4.09)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0.33 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(2.01)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3.24 (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8.62)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80708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EHI Score</a:t>
                      </a:r>
                      <a:endParaRPr lang="en-US" sz="32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0.71 (0.46)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0.72 (0.44)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0.66 (0.56)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0.72 (0.50)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0071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Loss of Smell</a:t>
                      </a:r>
                      <a:endParaRPr lang="en-US" sz="32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2537 (72.6%)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2090 (73.3%)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240 (58.5%)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101 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(59.1%)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9311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Right Hand Dominant</a:t>
                      </a:r>
                      <a:endParaRPr lang="en-US" sz="32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1888 (53.3%)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1765 (61.9%)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20 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(4.9%)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102 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(59.6%)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8991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Regular Exercise</a:t>
                      </a:r>
                      <a:endParaRPr lang="en-US" sz="32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1795 (50.7%)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1555 (54.5%)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162 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(39.5%)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72 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42.1%)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556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0" dirty="0">
                          <a:solidFill>
                            <a:srgbClr val="000000"/>
                          </a:solidFill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Coffee Drinker</a:t>
                      </a:r>
                      <a:endParaRPr lang="en-US" sz="3200" b="0" dirty="0">
                        <a:solidFill>
                          <a:srgbClr val="000000"/>
                        </a:solidFill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5279" marB="527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1735 (49.0%)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1480 (51.9%)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160 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(39.0%)</a:t>
                      </a:r>
                      <a:endParaRPr lang="en-US" sz="3200" b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90 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/>
                      <a:r>
                        <a:rPr lang="en-US" sz="3200" b="0" dirty="0">
                          <a:effectLst/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(52.6%)</a:t>
                      </a:r>
                      <a:endParaRPr lang="en-US" sz="3200" b="0" dirty="0">
                        <a:effectLst/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 marL="10559" marR="10559" marT="10559" marB="10559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7" name="Rectangle 5"/>
          <p:cNvSpPr>
            <a:spLocks noChangeArrowheads="1"/>
          </p:cNvSpPr>
          <p:nvPr/>
        </p:nvSpPr>
        <p:spPr bwMode="auto">
          <a:xfrm>
            <a:off x="9981891" y="3241616"/>
            <a:ext cx="369619404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20710662" y="17540927"/>
            <a:ext cx="17613482" cy="783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500" b="1" spc="-112" dirty="0">
                <a:solidFill>
                  <a:schemeClr val="tx2"/>
                </a:solidFill>
                <a:latin typeface="Century Gothic" panose="020B0502020202020204" pitchFamily="34" charset="0"/>
                <a:cs typeface="Segoe UI" panose="020B0502040204020203" pitchFamily="34" charset="0"/>
              </a:rPr>
              <a:t>3. Risk Drivers of Predictions</a:t>
            </a:r>
            <a:endParaRPr lang="en-US" sz="4500" dirty="0"/>
          </a:p>
        </p:txBody>
      </p:sp>
      <p:sp>
        <p:nvSpPr>
          <p:cNvPr id="90" name="TextBox 89"/>
          <p:cNvSpPr txBox="1"/>
          <p:nvPr/>
        </p:nvSpPr>
        <p:spPr>
          <a:xfrm>
            <a:off x="133159" y="13630767"/>
            <a:ext cx="8443444" cy="339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27050" marR="102235" indent="-514350">
              <a:lnSpc>
                <a:spcPct val="100000"/>
              </a:lnSpc>
              <a:spcBef>
                <a:spcPts val="290"/>
              </a:spcBef>
              <a:buFont typeface="+mj-lt"/>
              <a:buAutoNum type="arabicPeriod"/>
            </a:pPr>
            <a:r>
              <a:rPr lang="en-US" sz="3000" spc="-2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Evaluate and compare the efficacy of various models in differentiating healthy controls from PD cases.</a:t>
            </a:r>
            <a:endParaRPr lang="en-US" sz="3000" spc="-2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527050" marR="102235" indent="-514350">
              <a:lnSpc>
                <a:spcPct val="100000"/>
              </a:lnSpc>
              <a:spcBef>
                <a:spcPts val="290"/>
              </a:spcBef>
              <a:buFont typeface="+mj-lt"/>
              <a:buAutoNum type="arabicPeriod"/>
            </a:pPr>
            <a:r>
              <a:rPr lang="en-US" sz="3000" spc="-2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Deploy the optimal model to further categorize PD cases into PD and PD-plus subgroups.</a:t>
            </a:r>
            <a:endParaRPr lang="en-US" sz="3000" spc="-20" dirty="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  <a:p>
            <a:pPr marL="527050" marR="102235" indent="-514350">
              <a:lnSpc>
                <a:spcPct val="100000"/>
              </a:lnSpc>
              <a:spcBef>
                <a:spcPts val="290"/>
              </a:spcBef>
              <a:buFont typeface="+mj-lt"/>
              <a:buAutoNum type="arabicPeriod"/>
            </a:pPr>
            <a:r>
              <a:rPr lang="en-US" sz="3000" spc="-20" dirty="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Interpret individual predictions and identify key risk drivers through SHAP analysis.</a:t>
            </a:r>
            <a:endParaRPr lang="en-US" sz="3000" spc="-20" dirty="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05105" y="4612640"/>
            <a:ext cx="8480425" cy="41090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>
                <a:latin typeface="Times New Roman" panose="02020503050405090304" charset="0"/>
                <a:cs typeface="Times New Roman" panose="02020503050405090304" charset="0"/>
              </a:rPr>
              <a:t>Parkinson's disease (PD) and atypical parkinsonism (PD-plus) are clinically difficult to distinguish. Using C-OPN data (n = 3,433), we applied a two-stage classification approach — first separating healthy controls from parkinsonism cases, then distinguishing PD from PD-plus — comparing five machine learning models via 5-fold cross-validation.</a:t>
            </a:r>
            <a:endParaRPr lang="en-US" altLang="zh-CN" sz="3200"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33350" y="9514840"/>
            <a:ext cx="8282305" cy="3322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3000">
                <a:latin typeface="Times New Roman" panose="02020503050405090304" charset="0"/>
                <a:cs typeface="Times New Roman" panose="02020503050405090304" charset="0"/>
              </a:rPr>
              <a:t>PD is the 2nd most common neurodegenerative disorder, affecting 110,000+ Canadians.</a:t>
            </a:r>
            <a:endParaRPr lang="en-US" altLang="zh-CN" sz="3000">
              <a:latin typeface="Times New Roman" panose="02020503050405090304" charset="0"/>
              <a:cs typeface="Times New Roman" panose="0202050305040509030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3000">
                <a:latin typeface="Times New Roman" panose="02020503050405090304" charset="0"/>
                <a:cs typeface="Times New Roman" panose="02020503050405090304" charset="0"/>
              </a:rPr>
              <a:t>PD-PLus (PSP,MSA, CSB, DLB) shares motor features with PD but progresses faster and responds poorly to levodopa</a:t>
            </a:r>
            <a:endParaRPr lang="en-US" altLang="zh-CN" sz="3000">
              <a:latin typeface="Times New Roman" panose="02020503050405090304" charset="0"/>
              <a:cs typeface="Times New Roman" panose="0202050305040509030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3000">
                <a:latin typeface="Times New Roman" panose="02020503050405090304" charset="0"/>
                <a:cs typeface="Times New Roman" panose="02020503050405090304" charset="0"/>
              </a:rPr>
              <a:t>No Reliable Clinical tool existes to distinguish PD and PD-Plus at scale. </a:t>
            </a:r>
            <a:endParaRPr lang="en-US" altLang="zh-CN" sz="3000">
              <a:latin typeface="Times New Roman" panose="02020503050405090304" charset="0"/>
              <a:cs typeface="Times New Roman" panose="02020503050405090304" charset="0"/>
            </a:endParaRPr>
          </a:p>
        </p:txBody>
      </p:sp>
      <p:graphicFrame>
        <p:nvGraphicFramePr>
          <p:cNvPr id="13" name="表格 12"/>
          <p:cNvGraphicFramePr/>
          <p:nvPr/>
        </p:nvGraphicFramePr>
        <p:xfrm>
          <a:off x="8542655" y="18618835"/>
          <a:ext cx="12593955" cy="5436235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552065"/>
                <a:gridCol w="1553845"/>
                <a:gridCol w="1934845"/>
                <a:gridCol w="1946275"/>
                <a:gridCol w="1402715"/>
                <a:gridCol w="1388110"/>
                <a:gridCol w="1816100"/>
              </a:tblGrid>
              <a:tr h="5181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800"/>
                        <a:t> Model</a:t>
                      </a:r>
                      <a:endParaRPr lang="en-US" altLang="zh-CN" sz="2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800"/>
                        <a:t>C-</a:t>
                      </a:r>
                      <a:r>
                        <a:rPr lang="en-US" altLang="zh-CN" sz="2800"/>
                        <a:t>index</a:t>
                      </a:r>
                      <a:endParaRPr lang="en-US" altLang="zh-CN" sz="2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800"/>
                        <a:t>Sensitivity</a:t>
                      </a:r>
                      <a:endParaRPr lang="en-US" altLang="zh-CN" sz="2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800"/>
                        <a:t>Specificity</a:t>
                      </a:r>
                      <a:endParaRPr lang="en-US" altLang="zh-CN" sz="2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800"/>
                        <a:t>PPV</a:t>
                      </a:r>
                      <a:endParaRPr lang="en-US" altLang="zh-CN" sz="2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800"/>
                        <a:t>NPV</a:t>
                      </a:r>
                      <a:endParaRPr lang="en-US" altLang="zh-CN" sz="2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800"/>
                        <a:t>F1-Score</a:t>
                      </a:r>
                      <a:endParaRPr lang="en-US" altLang="zh-CN" sz="2800"/>
                    </a:p>
                  </a:txBody>
                  <a:tcPr/>
                </a:tc>
              </a:tr>
              <a:tr h="12242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Logistic </a:t>
                      </a:r>
                      <a:endParaRPr lang="en-US" altLang="zh-CN" sz="3600"/>
                    </a:p>
                    <a:p>
                      <a:pPr algn="ctr">
                        <a:buNone/>
                      </a:pPr>
                      <a:r>
                        <a:rPr lang="en-US" altLang="zh-CN" sz="3600"/>
                        <a:t>Regression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0.908</a:t>
                      </a:r>
                      <a:endParaRPr lang="en-US" altLang="zh-CN" sz="3600"/>
                    </a:p>
                    <a:p>
                      <a:pPr algn="ctr">
                        <a:buNone/>
                      </a:pP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0.805</a:t>
                      </a:r>
                      <a:endParaRPr lang="en-US" altLang="zh-CN" sz="3600"/>
                    </a:p>
                    <a:p>
                      <a:pPr algn="ctr">
                        <a:buNone/>
                      </a:pP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0.854</a:t>
                      </a:r>
                      <a:endParaRPr lang="en-US" altLang="zh-CN" sz="3600"/>
                    </a:p>
                    <a:p>
                      <a:pPr algn="ctr">
                        <a:buNone/>
                      </a:pP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0.976</a:t>
                      </a:r>
                      <a:endParaRPr lang="en-US" altLang="zh-CN" sz="3600"/>
                    </a:p>
                    <a:p>
                      <a:pPr algn="ctr">
                        <a:buNone/>
                      </a:pP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0.372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0.882</a:t>
                      </a:r>
                      <a:endParaRPr lang="en-US" altLang="zh-CN" sz="36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Random </a:t>
                      </a:r>
                      <a:endParaRPr lang="en-US" altLang="zh-CN" sz="3600"/>
                    </a:p>
                    <a:p>
                      <a:pPr algn="ctr">
                        <a:buNone/>
                      </a:pPr>
                      <a:r>
                        <a:rPr lang="en-US" altLang="zh-CN" sz="3600"/>
                        <a:t>Forest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0.912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0.817</a:t>
                      </a:r>
                      <a:endParaRPr lang="en-US" altLang="zh-CN" sz="3600"/>
                    </a:p>
                    <a:p>
                      <a:pPr algn="ctr">
                        <a:buNone/>
                      </a:pP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0.854</a:t>
                      </a:r>
                      <a:endParaRPr lang="en-US" altLang="zh-CN" sz="3600"/>
                    </a:p>
                    <a:p>
                      <a:pPr algn="ctr">
                        <a:buNone/>
                      </a:pP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0.976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0.387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0.889</a:t>
                      </a:r>
                      <a:endParaRPr lang="en-US" altLang="zh-CN" sz="36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SVM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0.873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0.676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0.988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0.988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0.292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0.806</a:t>
                      </a:r>
                      <a:endParaRPr lang="en-US" altLang="zh-CN" sz="36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Gradiant</a:t>
                      </a:r>
                      <a:endParaRPr lang="en-US" altLang="zh-CN" sz="3600"/>
                    </a:p>
                    <a:p>
                      <a:pPr algn="ctr">
                        <a:buNone/>
                      </a:pPr>
                      <a:r>
                        <a:rPr lang="en-US" altLang="zh-CN" sz="3600"/>
                        <a:t>Boosting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0.908</a:t>
                      </a:r>
                      <a:endParaRPr lang="en-US" altLang="zh-CN" sz="3600"/>
                    </a:p>
                    <a:p>
                      <a:pPr algn="ctr">
                        <a:buNone/>
                      </a:pP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0.817</a:t>
                      </a:r>
                      <a:endParaRPr lang="en-US" altLang="zh-CN" sz="3600"/>
                    </a:p>
                    <a:p>
                      <a:pPr algn="ctr">
                        <a:buNone/>
                      </a:pP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0.841</a:t>
                      </a:r>
                      <a:endParaRPr lang="en-US" altLang="zh-CN" sz="3600"/>
                    </a:p>
                    <a:p>
                      <a:pPr algn="ctr">
                        <a:buNone/>
                      </a:pP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0.974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0.383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0.888</a:t>
                      </a:r>
                      <a:endParaRPr lang="en-US" altLang="zh-CN" sz="3600"/>
                    </a:p>
                  </a:txBody>
                  <a:tcPr/>
                </a:tc>
              </a:tr>
              <a:tr h="67627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KNN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0.858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0.944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0.439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0.925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0.514</a:t>
                      </a:r>
                      <a:endParaRPr lang="en-US" altLang="zh-CN" sz="36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600"/>
                        <a:t>0.935</a:t>
                      </a:r>
                      <a:endParaRPr lang="en-US" altLang="zh-CN" sz="360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图片 3" descr="截屏2026-04-11 15.27.0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1025" y="24859615"/>
            <a:ext cx="12569825" cy="788924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8659495" y="24213185"/>
            <a:ext cx="1205103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600">
                <a:solidFill>
                  <a:schemeClr val="tx2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Confusion matrices: Healthy Controls vs. Parkinsonism</a:t>
            </a:r>
            <a:r>
              <a:rPr lang="en-US" altLang="zh-CN"/>
              <a:t>.</a:t>
            </a:r>
            <a:endParaRPr lang="zh-CN" altLang="en-US"/>
          </a:p>
        </p:txBody>
      </p:sp>
      <p:graphicFrame>
        <p:nvGraphicFramePr>
          <p:cNvPr id="15" name="表格 14"/>
          <p:cNvGraphicFramePr/>
          <p:nvPr/>
        </p:nvGraphicFramePr>
        <p:xfrm>
          <a:off x="20710525" y="5598160"/>
          <a:ext cx="12204065" cy="5131435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240280"/>
                <a:gridCol w="1553845"/>
                <a:gridCol w="1934845"/>
                <a:gridCol w="2024380"/>
                <a:gridCol w="1207770"/>
                <a:gridCol w="1387475"/>
                <a:gridCol w="1855470"/>
              </a:tblGrid>
              <a:tr h="5181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800"/>
                        <a:t> Model</a:t>
                      </a:r>
                      <a:endParaRPr lang="en-US" altLang="zh-CN" sz="2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800"/>
                        <a:t>C-</a:t>
                      </a:r>
                      <a:r>
                        <a:rPr lang="en-US" altLang="zh-CN" sz="2800"/>
                        <a:t>index</a:t>
                      </a:r>
                      <a:endParaRPr lang="en-US" altLang="zh-CN" sz="2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800"/>
                        <a:t>Sensitivity</a:t>
                      </a:r>
                      <a:endParaRPr lang="en-US" altLang="zh-CN" sz="2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800"/>
                        <a:t>Specificity</a:t>
                      </a:r>
                      <a:endParaRPr lang="en-US" altLang="zh-CN" sz="2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800"/>
                        <a:t>PPV</a:t>
                      </a:r>
                      <a:endParaRPr lang="en-US" altLang="zh-CN" sz="2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800"/>
                        <a:t>NPV</a:t>
                      </a:r>
                      <a:endParaRPr lang="en-US" altLang="zh-CN" sz="2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800"/>
                        <a:t>F1-Score</a:t>
                      </a:r>
                      <a:endParaRPr lang="en-US" altLang="zh-CN" sz="2800"/>
                    </a:p>
                  </a:txBody>
                  <a:tcPr/>
                </a:tc>
              </a:tr>
              <a:tr h="12242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Logistic 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Regression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0.616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>
                        <a:buNone/>
                      </a:pP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0.500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>
                        <a:buNone/>
                      </a:pP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0.643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>
                        <a:buNone/>
                      </a:pP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0.077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>
                        <a:buNone/>
                      </a:pP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0.372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0.133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Random 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Forest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0.633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0.441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>
                        <a:buNone/>
                      </a:pP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0.743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>
                        <a:buNone/>
                      </a:pP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0.093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0.387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0.153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SVM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0.638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0.618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0.539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0.074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0.292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0.132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Gradiant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Boosting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0.570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>
                        <a:buNone/>
                      </a:pP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0.324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>
                        <a:buNone/>
                      </a:pP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0.746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  <a:p>
                      <a:pPr algn="ctr">
                        <a:buNone/>
                      </a:pP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0.071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0.383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0.116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</a:tr>
              <a:tr h="67627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KNN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0.517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0.088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0.869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0.038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0.514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>
                          <a:latin typeface="Arial" panose="020B0604020202090204" pitchFamily="34" charset="0"/>
                          <a:cs typeface="Arial" panose="020B0604020202090204" pitchFamily="34" charset="0"/>
                        </a:rPr>
                        <a:t>0.054</a:t>
                      </a:r>
                      <a:endParaRPr lang="en-US" altLang="zh-CN" sz="3200">
                        <a:latin typeface="Arial" panose="020B0604020202090204" pitchFamily="34" charset="0"/>
                        <a:cs typeface="Arial" panose="020B0604020202090204" pitchFamily="3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6" name="图片 15" descr="截屏2026-04-11 16.34.5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7045" y="11461115"/>
            <a:ext cx="11878945" cy="6116320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20710525" y="10728960"/>
            <a:ext cx="1178242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600">
                <a:solidFill>
                  <a:schemeClr val="tx2"/>
                </a:solidFill>
                <a:latin typeface="Arial" panose="020B0604020202090204" pitchFamily="34" charset="0"/>
                <a:cs typeface="Arial" panose="020B0604020202090204" pitchFamily="34" charset="0"/>
                <a:sym typeface="+mn-ea"/>
              </a:rPr>
              <a:t>Confusion matrices: Healthy Controls vs. Parkinsonism</a:t>
            </a:r>
            <a:endParaRPr lang="zh-CN" altLang="en-US" sz="3600"/>
          </a:p>
        </p:txBody>
      </p:sp>
      <p:sp>
        <p:nvSpPr>
          <p:cNvPr id="21" name="文本框 20"/>
          <p:cNvSpPr txBox="1"/>
          <p:nvPr/>
        </p:nvSpPr>
        <p:spPr>
          <a:xfrm>
            <a:off x="21226780" y="18214975"/>
            <a:ext cx="4977765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600" b="1">
                <a:latin typeface="Arial" panose="020B0604020202090204" pitchFamily="34" charset="0"/>
                <a:cs typeface="Arial" panose="020B0604020202090204" pitchFamily="34" charset="0"/>
              </a:rPr>
              <a:t>Stage 1&amp;2: </a:t>
            </a:r>
            <a:endParaRPr lang="en-US" altLang="zh-CN" sz="3600" b="1"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3600" b="1">
                <a:latin typeface="Arial" panose="020B0604020202090204" pitchFamily="34" charset="0"/>
                <a:cs typeface="Arial" panose="020B0604020202090204" pitchFamily="34" charset="0"/>
              </a:rPr>
              <a:t>Symptom </a:t>
            </a:r>
            <a:r>
              <a:rPr lang="en-US" altLang="zh-CN" sz="3600" b="1">
                <a:latin typeface="Arial" panose="020B0604020202090204" pitchFamily="34" charset="0"/>
                <a:cs typeface="Arial" panose="020B0604020202090204" pitchFamily="34" charset="0"/>
              </a:rPr>
              <a:t>Lateraity</a:t>
            </a:r>
            <a:endParaRPr lang="en-US" altLang="zh-CN" sz="3600" b="1"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3600" b="1">
                <a:latin typeface="Arial" panose="020B0604020202090204" pitchFamily="34" charset="0"/>
                <a:cs typeface="Arial" panose="020B0604020202090204" pitchFamily="34" charset="0"/>
              </a:rPr>
              <a:t>Loss of Smell</a:t>
            </a:r>
            <a:endParaRPr lang="en-US" altLang="zh-CN" sz="3600" b="1"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3600" b="1">
                <a:latin typeface="Arial" panose="020B0604020202090204" pitchFamily="34" charset="0"/>
                <a:cs typeface="Arial" panose="020B0604020202090204" pitchFamily="34" charset="0"/>
              </a:rPr>
              <a:t>Gender</a:t>
            </a:r>
            <a:endParaRPr lang="en-US" altLang="zh-CN" sz="3600" b="1"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3600" b="1">
                <a:latin typeface="Arial" panose="020B0604020202090204" pitchFamily="34" charset="0"/>
                <a:cs typeface="Arial" panose="020B0604020202090204" pitchFamily="34" charset="0"/>
              </a:rPr>
              <a:t>Age at Visit</a:t>
            </a:r>
            <a:endParaRPr lang="en-US" altLang="zh-CN" sz="3600" b="1"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/>
          </a:p>
        </p:txBody>
      </p:sp>
      <p:sp>
        <p:nvSpPr>
          <p:cNvPr id="27" name="文本框 26"/>
          <p:cNvSpPr txBox="1"/>
          <p:nvPr/>
        </p:nvSpPr>
        <p:spPr>
          <a:xfrm>
            <a:off x="25793700" y="18108295"/>
            <a:ext cx="6891655" cy="28206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400">
                <a:solidFill>
                  <a:schemeClr val="tx1"/>
                </a:solidFill>
              </a:rPr>
              <a:t>SHAP analysis (Gradient Boosting model) identified </a:t>
            </a:r>
            <a:r>
              <a:rPr lang="en-US" altLang="zh-CN" sz="2400" b="1">
                <a:solidFill>
                  <a:schemeClr val="tx1"/>
                </a:solidFill>
              </a:rPr>
              <a:t>four </a:t>
            </a:r>
            <a:r>
              <a:rPr lang="en-US" altLang="zh-CN" sz="2400">
                <a:solidFill>
                  <a:schemeClr val="tx1"/>
                </a:solidFill>
              </a:rPr>
              <a:t>key predictors consistent across both classification stages. </a:t>
            </a:r>
            <a:r>
              <a:rPr lang="en-US" altLang="zh-CN" sz="2400" b="1">
                <a:solidFill>
                  <a:schemeClr val="tx1"/>
                </a:solidFill>
              </a:rPr>
              <a:t>Symptom laterality</a:t>
            </a:r>
            <a:r>
              <a:rPr lang="en-US" altLang="zh-CN" sz="2400">
                <a:solidFill>
                  <a:schemeClr val="tx1"/>
                </a:solidFill>
              </a:rPr>
              <a:t> dominates Stage 1, reflecting its role as a hallmark of parkinsonism. </a:t>
            </a:r>
            <a:r>
              <a:rPr lang="en-US" altLang="zh-CN" sz="2400" b="1">
                <a:solidFill>
                  <a:schemeClr val="tx1"/>
                </a:solidFill>
              </a:rPr>
              <a:t>Loss of smell </a:t>
            </a:r>
            <a:r>
              <a:rPr lang="en-US" altLang="zh-CN" sz="2400">
                <a:solidFill>
                  <a:schemeClr val="tx1"/>
                </a:solidFill>
              </a:rPr>
              <a:t>becomes the primary discriminating signal in Stage 2, as it is more pronounced in PD than PD-plus. </a:t>
            </a:r>
            <a:r>
              <a:rPr lang="en-US" altLang="zh-CN" sz="2400" b="1">
                <a:solidFill>
                  <a:schemeClr val="tx1"/>
                </a:solidFill>
              </a:rPr>
              <a:t>Gender</a:t>
            </a:r>
            <a:r>
              <a:rPr lang="en-US" altLang="zh-CN" sz="2400">
                <a:solidFill>
                  <a:schemeClr val="tx1"/>
                </a:solidFill>
              </a:rPr>
              <a:t> and </a:t>
            </a:r>
            <a:r>
              <a:rPr lang="en-US" altLang="zh-CN" sz="2400" b="1">
                <a:solidFill>
                  <a:schemeClr val="tx1"/>
                </a:solidFill>
              </a:rPr>
              <a:t>Age</a:t>
            </a:r>
            <a:r>
              <a:rPr lang="en-US" altLang="zh-CN" sz="2400">
                <a:solidFill>
                  <a:schemeClr val="tx1"/>
                </a:solidFill>
              </a:rPr>
              <a:t> contribute。 consistently across both stages.</a:t>
            </a:r>
            <a:endParaRPr lang="en-US" altLang="zh-CN" sz="2400">
              <a:solidFill>
                <a:schemeClr val="tx1"/>
              </a:solidFill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21161375" y="22329775"/>
            <a:ext cx="11419840" cy="1508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571500" indent="-571500">
              <a:buFont typeface="Arial" panose="020B0604020202090204" pitchFamily="34" charset="0"/>
              <a:buChar char="•"/>
            </a:pPr>
            <a:r>
              <a:rPr lang="en-US" altLang="zh-CN" sz="3600"/>
              <a:t>Stage 1 (Healthy vs. Parkinsonism) achieved strong classification performance across all five models (AUC up to 0.91), demonstrating that routine clinical variables can reliably distinguish parkinsonism from healthy controls.</a:t>
            </a:r>
            <a:endParaRPr lang="en-US" altLang="zh-CN" sz="3600"/>
          </a:p>
          <a:p>
            <a:pPr marL="571500" indent="-571500">
              <a:buFont typeface="Arial" panose="020B0604020202090204" pitchFamily="34" charset="0"/>
              <a:buChar char="•"/>
            </a:pPr>
            <a:r>
              <a:rPr lang="en-US" altLang="zh-CN" sz="3600"/>
              <a:t>Stage 2 (PD vs. PD-Plus) remained challenging for all models, with a best sensitivity of 0.618 (SVM), primarily driven by severe class imbalance in the PD-plus group (4.6% of sample).</a:t>
            </a:r>
            <a:endParaRPr lang="en-US" altLang="zh-CN" sz="3600"/>
          </a:p>
          <a:p>
            <a:pPr marL="571500" indent="-571500">
              <a:buFont typeface="Arial" panose="020B0604020202090204" pitchFamily="34" charset="0"/>
              <a:buChar char="•"/>
            </a:pPr>
            <a:r>
              <a:rPr lang="en-US" altLang="zh-CN" sz="3600"/>
              <a:t>Logistic Regression was selected as the final recommended model, offering competitive performance (Stage 1 AUC = 0.91, C-index = 0.908; Stage 2 AUC = 0.62, C-index = 0.616) and </a:t>
            </a:r>
            <a:r>
              <a:rPr lang="en-US" altLang="zh-CN" sz="3600"/>
              <a:t>great implementation feasibility makes it the most suitable choice for real-world deployment.</a:t>
            </a:r>
            <a:endParaRPr lang="en-US" altLang="zh-CN" sz="3600"/>
          </a:p>
          <a:p>
            <a:pPr marL="571500" indent="-571500">
              <a:buFont typeface="Arial" panose="020B0604020202090204" pitchFamily="34" charset="0"/>
              <a:buChar char="•"/>
            </a:pPr>
            <a:r>
              <a:rPr lang="en-US" altLang="zh-CN" sz="3600"/>
              <a:t>Future work should incorporate larger PD-plus cohorts, longitudinal biomarkers </a:t>
            </a:r>
            <a:r>
              <a:rPr lang="en-US" altLang="zh-CN" sz="3600"/>
              <a:t>and site-based external validation to improve differential diagnosis。</a:t>
            </a:r>
            <a:endParaRPr lang="en-US" altLang="zh-CN" sz="3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4917</Words>
  <Application>WPS 文字</Application>
  <PresentationFormat>Custom</PresentationFormat>
  <Paragraphs>423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4" baseType="lpstr">
      <vt:lpstr>Arial</vt:lpstr>
      <vt:lpstr>宋体</vt:lpstr>
      <vt:lpstr>Wingdings</vt:lpstr>
      <vt:lpstr>Century Gothic</vt:lpstr>
      <vt:lpstr>苹方-简</vt:lpstr>
      <vt:lpstr>Segoe UI</vt:lpstr>
      <vt:lpstr>Times New Roman</vt:lpstr>
      <vt:lpstr>Cambria</vt:lpstr>
      <vt:lpstr>Tahoma</vt:lpstr>
      <vt:lpstr>Georgia</vt:lpstr>
      <vt:lpstr>Aptos</vt:lpstr>
      <vt:lpstr>Helvetica Neue</vt:lpstr>
      <vt:lpstr>微软雅黑</vt:lpstr>
      <vt:lpstr>汉仪旗黑</vt:lpstr>
      <vt:lpstr>宋体</vt:lpstr>
      <vt:lpstr>Arial Unicode MS</vt:lpstr>
      <vt:lpstr>汉仪书宋二KW</vt:lpstr>
      <vt:lpstr>Aptos Display</vt:lpstr>
      <vt:lpstr>等线</vt:lpstr>
      <vt:lpstr>汉仪中等线KW</vt:lpstr>
      <vt:lpstr>Calibri</vt:lpstr>
      <vt:lpstr>Tahoma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Javier Mencia Ledo</dc:creator>
  <cp:lastModifiedBy>毋竖锡</cp:lastModifiedBy>
  <cp:revision>11</cp:revision>
  <dcterms:created xsi:type="dcterms:W3CDTF">2026-04-11T21:13:10Z</dcterms:created>
  <dcterms:modified xsi:type="dcterms:W3CDTF">2026-04-11T21:13:10Z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DB2595F21B4D6A12B5CDD969F91018A2_42</vt:lpwstr>
  </property>
  <property fmtid="{D5CDD505-2E9C-101B-9397-08002B2CF9AE}" pid="3" name="KSOProductBuildVer">
    <vt:lpwstr>2052-12.1.23155.23155</vt:lpwstr>
  </property>
</Properties>
</file>