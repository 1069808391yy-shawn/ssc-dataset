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9184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917"/>
    <p:restoredTop sz="94737"/>
  </p:normalViewPr>
  <p:slideViewPr>
    <p:cSldViewPr snapToGrid="0">
      <p:cViewPr>
        <p:scale>
          <a:sx n="27" d="100"/>
          <a:sy n="27" d="100"/>
        </p:scale>
        <p:origin x="30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5387342"/>
            <a:ext cx="2798064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7289782"/>
            <a:ext cx="246888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2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4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8206749"/>
            <a:ext cx="2839212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2029429"/>
            <a:ext cx="2839212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5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8763000"/>
            <a:ext cx="139903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8763000"/>
            <a:ext cx="1399032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3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752607"/>
            <a:ext cx="2839212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8069582"/>
            <a:ext cx="13926024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2024360"/>
            <a:ext cx="13926024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8069582"/>
            <a:ext cx="13994608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2024360"/>
            <a:ext cx="1399460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7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0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7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194560"/>
            <a:ext cx="1061704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4739647"/>
            <a:ext cx="1666494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9875520"/>
            <a:ext cx="10617041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194560"/>
            <a:ext cx="1061704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4739647"/>
            <a:ext cx="16664940" cy="233934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9875520"/>
            <a:ext cx="10617041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00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9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752600"/>
            <a:ext cx="709803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752600"/>
            <a:ext cx="2088261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752607"/>
            <a:ext cx="2839212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8763000"/>
            <a:ext cx="2839212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E097D-BF14-0048-A1F1-91A4B3DB23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9E7E3-3D05-DC41-B909-139336B5B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3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0DDE03-7E2E-3057-8652-82D963F12450}"/>
              </a:ext>
            </a:extLst>
          </p:cNvPr>
          <p:cNvSpPr/>
          <p:nvPr/>
        </p:nvSpPr>
        <p:spPr>
          <a:xfrm>
            <a:off x="180406" y="182880"/>
            <a:ext cx="32504865" cy="338190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152C7-9E05-DA6E-4A0C-41CC30C2BC5A}"/>
              </a:ext>
            </a:extLst>
          </p:cNvPr>
          <p:cNvSpPr txBox="1"/>
          <p:nvPr/>
        </p:nvSpPr>
        <p:spPr>
          <a:xfrm>
            <a:off x="2629059" y="641851"/>
            <a:ext cx="27670066" cy="167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algn="ctr">
              <a:lnSpc>
                <a:spcPct val="106700"/>
              </a:lnSpc>
              <a:spcBef>
                <a:spcPts val="20"/>
              </a:spcBef>
            </a:pPr>
            <a:r>
              <a:rPr lang="en-US" sz="5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Segoe UI" panose="020B0502040204020203" pitchFamily="34" charset="0"/>
              </a:rPr>
              <a:t>Differential Diagnosis across the Parkinsonian Spectrum</a:t>
            </a:r>
          </a:p>
          <a:p>
            <a:pPr marL="12065" marR="5080" algn="ctr">
              <a:lnSpc>
                <a:spcPct val="106700"/>
              </a:lnSpc>
              <a:spcBef>
                <a:spcPts val="20"/>
              </a:spcBef>
            </a:pPr>
            <a:r>
              <a:rPr lang="en-US" sz="4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entury Gothic" panose="020B0502020202020204" pitchFamily="34" charset="0"/>
              </a:rPr>
              <a:t>Multi-Center Validation of Classification Models for PD, PD-Plus, and Neurologically Healthy Controls</a:t>
            </a:r>
            <a:endParaRPr lang="en-US" sz="4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3D4EC-8253-4407-F3F0-641A9BC9C3F8}"/>
              </a:ext>
            </a:extLst>
          </p:cNvPr>
          <p:cNvSpPr txBox="1"/>
          <p:nvPr/>
        </p:nvSpPr>
        <p:spPr>
          <a:xfrm>
            <a:off x="180406" y="25159187"/>
            <a:ext cx="69641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395"/>
              </a:spcBef>
            </a:pPr>
            <a:r>
              <a:rPr lang="en-US" sz="4000" b="1" spc="-10" dirty="0">
                <a:solidFill>
                  <a:srgbClr val="0070C0"/>
                </a:solidFill>
                <a:latin typeface="Cambria" panose="02040503050406030204" pitchFamily="18" charset="0"/>
                <a:cs typeface="Tahoma"/>
              </a:rPr>
              <a:t>Modelling Diagnosis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D5BFD0-085A-5267-CBC6-0AAD0FEFD36D}"/>
              </a:ext>
            </a:extLst>
          </p:cNvPr>
          <p:cNvSpPr txBox="1"/>
          <p:nvPr/>
        </p:nvSpPr>
        <p:spPr>
          <a:xfrm>
            <a:off x="189957" y="21067530"/>
            <a:ext cx="7489039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z="4000" b="1" spc="-10" dirty="0">
                <a:solidFill>
                  <a:srgbClr val="0070C0"/>
                </a:solidFill>
                <a:latin typeface="Cambria" panose="02040503050406030204" pitchFamily="18" charset="0"/>
                <a:cs typeface="Tahoma"/>
              </a:rPr>
              <a:t>Candidate Models</a:t>
            </a:r>
          </a:p>
          <a:p>
            <a:pPr marL="174625" marR="102235" indent="-161925">
              <a:lnSpc>
                <a:spcPct val="100000"/>
              </a:lnSpc>
              <a:spcBef>
                <a:spcPts val="290"/>
              </a:spcBef>
              <a:buFont typeface="Courier New" panose="02070309020205020404" pitchFamily="49" charset="0"/>
              <a:buChar char="o"/>
            </a:pPr>
            <a:r>
              <a:rPr lang="en-US" sz="3200" spc="-20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Random</a:t>
            </a:r>
            <a:r>
              <a:rPr lang="en-US" sz="3200" spc="-15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 </a:t>
            </a:r>
            <a:r>
              <a:rPr lang="en-US" sz="3200" spc="-10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Forest (</a:t>
            </a:r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RF)</a:t>
            </a:r>
          </a:p>
          <a:p>
            <a:pPr marL="174625" marR="55244" indent="-161925">
              <a:lnSpc>
                <a:spcPct val="100000"/>
              </a:lnSpc>
              <a:spcBef>
                <a:spcPts val="284"/>
              </a:spcBef>
              <a:buFont typeface="Courier New" panose="02070309020205020404" pitchFamily="49" charset="0"/>
              <a:buChar char="o"/>
            </a:pPr>
            <a:r>
              <a:rPr lang="en-US" sz="3200" spc="-10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Logistic</a:t>
            </a:r>
            <a:r>
              <a:rPr lang="en-US" sz="3200" spc="-5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 </a:t>
            </a:r>
            <a:r>
              <a:rPr lang="en-US" sz="3200" spc="-35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Regression</a:t>
            </a:r>
          </a:p>
          <a:p>
            <a:pPr marL="174625" marR="102235" indent="-161925" algn="just">
              <a:spcBef>
                <a:spcPts val="290"/>
              </a:spcBef>
              <a:buFont typeface="Courier New" panose="02070309020205020404" pitchFamily="49" charset="0"/>
              <a:buChar char="o"/>
            </a:pPr>
            <a:r>
              <a:rPr lang="en-US" sz="3200" spc="-20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Support Vector Machine (SVM)</a:t>
            </a:r>
          </a:p>
          <a:p>
            <a:pPr marL="174625" marR="102235" indent="-161925">
              <a:spcBef>
                <a:spcPts val="290"/>
              </a:spcBef>
              <a:buFont typeface="Courier New" panose="02070309020205020404" pitchFamily="49" charset="0"/>
              <a:buChar char="o"/>
            </a:pPr>
            <a:r>
              <a:rPr lang="en-US" sz="3200" spc="-20" dirty="0">
                <a:latin typeface="Cambria" panose="02040503050406030204" pitchFamily="18" charset="0"/>
                <a:cs typeface="Tahoma"/>
              </a:rPr>
              <a:t>Gradient Boosting</a:t>
            </a:r>
          </a:p>
          <a:p>
            <a:pPr marL="174625" marR="102235" indent="-161925">
              <a:spcBef>
                <a:spcPts val="290"/>
              </a:spcBef>
              <a:buFont typeface="Courier New" panose="02070309020205020404" pitchFamily="49" charset="0"/>
              <a:buChar char="o"/>
            </a:pPr>
            <a:r>
              <a:rPr lang="en-US" sz="3200" spc="-20" dirty="0">
                <a:solidFill>
                  <a:schemeClr val="tx1"/>
                </a:solidFill>
                <a:latin typeface="Cambria" panose="02040503050406030204" pitchFamily="18" charset="0"/>
                <a:cs typeface="Tahoma"/>
              </a:rPr>
              <a:t>K Nearest Neighbors (KNN)</a:t>
            </a:r>
          </a:p>
          <a:p>
            <a:pPr marL="174625" marR="55244" indent="-161925">
              <a:lnSpc>
                <a:spcPct val="100000"/>
              </a:lnSpc>
              <a:spcBef>
                <a:spcPts val="284"/>
              </a:spcBef>
              <a:buFont typeface="Courier New" panose="02070309020205020404" pitchFamily="49" charset="0"/>
              <a:buChar char="o"/>
            </a:pPr>
            <a:endParaRPr lang="en-US" sz="3600" b="1" spc="-25" dirty="0"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6A96D-3B53-BF34-5CFB-23E876ED3618}"/>
              </a:ext>
            </a:extLst>
          </p:cNvPr>
          <p:cNvSpPr txBox="1"/>
          <p:nvPr/>
        </p:nvSpPr>
        <p:spPr>
          <a:xfrm>
            <a:off x="8984404" y="15242089"/>
            <a:ext cx="176134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1. Healthy Controls vs Parkinson’s</a:t>
            </a:r>
            <a:endParaRPr lang="en-US" sz="4500" dirty="0"/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62EDA4B7-933D-24F9-C4F4-6B5996D33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35325"/>
              </p:ext>
            </p:extLst>
          </p:nvPr>
        </p:nvGraphicFramePr>
        <p:xfrm>
          <a:off x="9784519" y="16332587"/>
          <a:ext cx="9940250" cy="41748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2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2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46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2500" b="1" spc="-10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500" dirty="0">
                        <a:solidFill>
                          <a:schemeClr val="tx2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500" b="1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C-</a:t>
                      </a:r>
                      <a:r>
                        <a:rPr sz="2500" b="1" spc="-10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Index</a:t>
                      </a:r>
                      <a:endParaRPr sz="2500" dirty="0">
                        <a:solidFill>
                          <a:schemeClr val="tx2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500" b="1" spc="-10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Sens</a:t>
                      </a:r>
                      <a:r>
                        <a:rPr lang="es-ES" sz="2500" b="1" spc="-10" dirty="0" err="1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itivity</a:t>
                      </a:r>
                      <a:endParaRPr sz="2500" dirty="0">
                        <a:solidFill>
                          <a:schemeClr val="tx2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500" b="1" spc="-10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Spec</a:t>
                      </a:r>
                      <a:r>
                        <a:rPr lang="es-ES" sz="2500" b="1" spc="-10" dirty="0" err="1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ificity</a:t>
                      </a:r>
                      <a:endParaRPr sz="2500" dirty="0">
                        <a:solidFill>
                          <a:schemeClr val="tx2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500" b="1" spc="-25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PPV</a:t>
                      </a:r>
                      <a:endParaRPr sz="2500" dirty="0">
                        <a:solidFill>
                          <a:schemeClr val="tx2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2500" b="1" spc="-25" dirty="0">
                          <a:solidFill>
                            <a:schemeClr val="tx2"/>
                          </a:solidFill>
                          <a:latin typeface="Arial"/>
                          <a:cs typeface="Arial"/>
                        </a:rPr>
                        <a:t>NPV</a:t>
                      </a:r>
                      <a:endParaRPr sz="2500" dirty="0">
                        <a:solidFill>
                          <a:schemeClr val="tx2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330">
                <a:tc>
                  <a:txBody>
                    <a:bodyPr/>
                    <a:lstStyle/>
                    <a:p>
                      <a:pPr>
                        <a:lnSpc>
                          <a:spcPts val="775"/>
                        </a:lnSpc>
                        <a:spcBef>
                          <a:spcPts val="130"/>
                        </a:spcBef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75"/>
                        </a:lnSpc>
                        <a:spcBef>
                          <a:spcPts val="130"/>
                        </a:spcBef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5"/>
                        </a:lnSpc>
                        <a:spcBef>
                          <a:spcPts val="130"/>
                        </a:spcBef>
                      </a:pP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75"/>
                        </a:lnSpc>
                        <a:spcBef>
                          <a:spcPts val="130"/>
                        </a:spcBef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75"/>
                        </a:lnSpc>
                        <a:spcBef>
                          <a:spcPts val="130"/>
                        </a:spcBef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775"/>
                        </a:lnSpc>
                        <a:spcBef>
                          <a:spcPts val="130"/>
                        </a:spcBef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925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0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0"/>
                        </a:lnSpc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0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710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925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710"/>
                        </a:lnSpc>
                      </a:pP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0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0"/>
                        </a:lnSpc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</a:pP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925">
                <a:tc>
                  <a:txBody>
                    <a:bodyPr/>
                    <a:lstStyle/>
                    <a:p>
                      <a:pPr>
                        <a:lnSpc>
                          <a:spcPts val="710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710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710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710"/>
                        </a:lnSpc>
                      </a:pP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</a:pP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149">
                <a:tc>
                  <a:txBody>
                    <a:bodyPr/>
                    <a:lstStyle/>
                    <a:p>
                      <a:pPr>
                        <a:lnSpc>
                          <a:spcPts val="715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5"/>
                        </a:lnSpc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</a:pP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5"/>
                        </a:lnSpc>
                      </a:pPr>
                      <a:endParaRPr sz="25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15"/>
                        </a:lnSpc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715"/>
                        </a:lnSpc>
                      </a:pPr>
                      <a:endParaRPr sz="25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205E02A1-F422-22C0-D1E4-E16C3649E7D8}"/>
              </a:ext>
            </a:extLst>
          </p:cNvPr>
          <p:cNvSpPr txBox="1"/>
          <p:nvPr/>
        </p:nvSpPr>
        <p:spPr>
          <a:xfrm>
            <a:off x="180407" y="8876709"/>
            <a:ext cx="8414790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Background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E30825-635A-01F4-8B29-CBDA17CCF7B6}"/>
              </a:ext>
            </a:extLst>
          </p:cNvPr>
          <p:cNvSpPr txBox="1"/>
          <p:nvPr/>
        </p:nvSpPr>
        <p:spPr>
          <a:xfrm>
            <a:off x="8984404" y="4860103"/>
            <a:ext cx="102013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395"/>
              </a:spcBef>
            </a:pPr>
            <a:r>
              <a:rPr lang="en-US" sz="4000" b="1" spc="-10" dirty="0">
                <a:solidFill>
                  <a:schemeClr val="tx2"/>
                </a:solidFill>
                <a:latin typeface="Cambria" panose="02040503050406030204" pitchFamily="18" charset="0"/>
                <a:cs typeface="Tahoma"/>
              </a:rPr>
              <a:t>Data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83CD82-FCC9-3F63-E1A2-10A2C1826DD1}"/>
              </a:ext>
            </a:extLst>
          </p:cNvPr>
          <p:cNvSpPr txBox="1"/>
          <p:nvPr/>
        </p:nvSpPr>
        <p:spPr>
          <a:xfrm>
            <a:off x="20771125" y="4916743"/>
            <a:ext cx="176134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2. PD vs PD-Plus</a:t>
            </a:r>
            <a:endParaRPr lang="en-US" sz="45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CB6002-92CC-87FF-7D15-0B92ED934DDE}"/>
              </a:ext>
            </a:extLst>
          </p:cNvPr>
          <p:cNvSpPr txBox="1"/>
          <p:nvPr/>
        </p:nvSpPr>
        <p:spPr>
          <a:xfrm>
            <a:off x="6950095" y="2441241"/>
            <a:ext cx="20421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u="none" strike="noStrike" dirty="0" err="1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Shuxi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 Wu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1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, Vivienne Wang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1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lang="en-US" sz="2800" b="0" i="0" u="none" strike="noStrike" dirty="0" err="1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Jianyue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 Bai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1</a:t>
            </a: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, Javier Mencia Ledo</a:t>
            </a:r>
            <a:r>
              <a:rPr lang="en-US" sz="2800" b="0" i="0" u="none" strike="noStrike" baseline="300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1</a:t>
            </a:r>
            <a:endParaRPr lang="en-US" sz="2800" b="0" dirty="0">
              <a:solidFill>
                <a:schemeClr val="bg1"/>
              </a:solidFill>
              <a:effectLst/>
            </a:endParaRPr>
          </a:p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0" i="0" u="none" strike="noStrike" baseline="300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1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Dalla Lana School of Public Health, Biostatistics Division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AC3AC0-4285-D731-FE3F-B3F272DBE280}"/>
              </a:ext>
            </a:extLst>
          </p:cNvPr>
          <p:cNvSpPr txBox="1"/>
          <p:nvPr/>
        </p:nvSpPr>
        <p:spPr>
          <a:xfrm>
            <a:off x="142740" y="14986964"/>
            <a:ext cx="844344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Objectives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80A3AD-2274-232F-E45A-9764F9E97AE6}"/>
              </a:ext>
            </a:extLst>
          </p:cNvPr>
          <p:cNvSpPr txBox="1"/>
          <p:nvPr/>
        </p:nvSpPr>
        <p:spPr>
          <a:xfrm>
            <a:off x="99504" y="20032588"/>
            <a:ext cx="844344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Methods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336477-6C54-CA42-B95C-2C12234DC2DD}"/>
              </a:ext>
            </a:extLst>
          </p:cNvPr>
          <p:cNvSpPr txBox="1"/>
          <p:nvPr/>
        </p:nvSpPr>
        <p:spPr>
          <a:xfrm>
            <a:off x="8804257" y="3885682"/>
            <a:ext cx="2388101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Results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B782BA-71AC-72B7-81DD-9BD4D1578988}"/>
              </a:ext>
            </a:extLst>
          </p:cNvPr>
          <p:cNvSpPr txBox="1"/>
          <p:nvPr/>
        </p:nvSpPr>
        <p:spPr>
          <a:xfrm>
            <a:off x="20889732" y="24642775"/>
            <a:ext cx="11876915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Conclusion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220A86-0A0D-7413-5C80-23C3719C0946}"/>
              </a:ext>
            </a:extLst>
          </p:cNvPr>
          <p:cNvSpPr txBox="1"/>
          <p:nvPr/>
        </p:nvSpPr>
        <p:spPr>
          <a:xfrm>
            <a:off x="189957" y="3899782"/>
            <a:ext cx="8443444" cy="7848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4500" b="1" spc="-112" dirty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Overview</a:t>
            </a:r>
            <a:endParaRPr lang="en-US" sz="4500" dirty="0">
              <a:solidFill>
                <a:schemeClr val="bg1"/>
              </a:solidFill>
            </a:endParaRPr>
          </a:p>
        </p:txBody>
      </p:sp>
      <p:pic>
        <p:nvPicPr>
          <p:cNvPr id="1028" name="Picture 4" descr="Communications &amp; Branding Resources - Dalla Lana School of Public Health">
            <a:extLst>
              <a:ext uri="{FF2B5EF4-FFF2-40B4-BE49-F238E27FC236}">
                <a16:creationId xmlns:a16="http://schemas.microsoft.com/office/drawing/2014/main" id="{E60F3905-A6CF-40F5-832E-87404562A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4" y="2122383"/>
            <a:ext cx="4276326" cy="124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601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3020</TotalTime>
  <Words>92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Cambria</vt:lpstr>
      <vt:lpstr>Century Gothic</vt:lpstr>
      <vt:lpstr>Courier New</vt:lpstr>
      <vt:lpstr>Georgia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Mencia Ledo</dc:creator>
  <cp:lastModifiedBy>Javier Mencia Ledo</cp:lastModifiedBy>
  <cp:revision>5</cp:revision>
  <dcterms:created xsi:type="dcterms:W3CDTF">2026-03-31T15:49:48Z</dcterms:created>
  <dcterms:modified xsi:type="dcterms:W3CDTF">2026-04-10T16:08:32Z</dcterms:modified>
</cp:coreProperties>
</file>