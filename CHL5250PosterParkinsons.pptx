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329184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9917"/>
    <p:restoredTop sz="94737"/>
  </p:normalViewPr>
  <p:slideViewPr>
    <p:cSldViewPr snapToGrid="0">
      <p:cViewPr>
        <p:scale>
          <a:sx n="25" d="100"/>
          <a:sy n="25" d="100"/>
        </p:scale>
        <p:origin x="196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68880" y="5387342"/>
            <a:ext cx="27980640" cy="11460480"/>
          </a:xfrm>
        </p:spPr>
        <p:txBody>
          <a:bodyPr anchor="b"/>
          <a:lstStyle>
            <a:lvl1pPr algn="ctr">
              <a:defRPr sz="21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114800" y="17289782"/>
            <a:ext cx="24688800" cy="7947658"/>
          </a:xfrm>
        </p:spPr>
        <p:txBody>
          <a:bodyPr/>
          <a:lstStyle>
            <a:lvl1pPr marL="0" indent="0" algn="ctr">
              <a:buNone/>
              <a:defRPr sz="8640"/>
            </a:lvl1pPr>
            <a:lvl2pPr marL="1645920" indent="0" algn="ctr">
              <a:buNone/>
              <a:defRPr sz="7200"/>
            </a:lvl2pPr>
            <a:lvl3pPr marL="3291840" indent="0" algn="ctr">
              <a:buNone/>
              <a:defRPr sz="6480"/>
            </a:lvl3pPr>
            <a:lvl4pPr marL="4937760" indent="0" algn="ctr">
              <a:buNone/>
              <a:defRPr sz="5760"/>
            </a:lvl4pPr>
            <a:lvl5pPr marL="6583680" indent="0" algn="ctr">
              <a:buNone/>
              <a:defRPr sz="5760"/>
            </a:lvl5pPr>
            <a:lvl6pPr marL="8229600" indent="0" algn="ctr">
              <a:buNone/>
              <a:defRPr sz="5760"/>
            </a:lvl6pPr>
            <a:lvl7pPr marL="9875520" indent="0" algn="ctr">
              <a:buNone/>
              <a:defRPr sz="5760"/>
            </a:lvl7pPr>
            <a:lvl8pPr marL="11521440" indent="0" algn="ctr">
              <a:buNone/>
              <a:defRPr sz="5760"/>
            </a:lvl8pPr>
            <a:lvl9pPr marL="13167360" indent="0" algn="ctr">
              <a:buNone/>
              <a:defRPr sz="57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62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741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5997" y="8206749"/>
            <a:ext cx="28392120" cy="13693138"/>
          </a:xfrm>
        </p:spPr>
        <p:txBody>
          <a:bodyPr anchor="b"/>
          <a:lstStyle>
            <a:lvl1pPr>
              <a:defRPr sz="21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45997" y="22029429"/>
            <a:ext cx="28392120" cy="7200898"/>
          </a:xfrm>
        </p:spPr>
        <p:txBody>
          <a:bodyPr/>
          <a:lstStyle>
            <a:lvl1pPr marL="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1pPr>
            <a:lvl2pPr marL="1645920" indent="0">
              <a:buNone/>
              <a:defRPr sz="7200">
                <a:solidFill>
                  <a:schemeClr val="tx1">
                    <a:tint val="82000"/>
                  </a:schemeClr>
                </a:solidFill>
              </a:defRPr>
            </a:lvl2pPr>
            <a:lvl3pPr marL="3291840" indent="0">
              <a:buNone/>
              <a:defRPr sz="6480">
                <a:solidFill>
                  <a:schemeClr val="tx1">
                    <a:tint val="82000"/>
                  </a:schemeClr>
                </a:solidFill>
              </a:defRPr>
            </a:lvl3pPr>
            <a:lvl4pPr marL="493776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4pPr>
            <a:lvl5pPr marL="658368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5pPr>
            <a:lvl6pPr marL="822960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6pPr>
            <a:lvl7pPr marL="987552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7pPr>
            <a:lvl8pPr marL="1152144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8pPr>
            <a:lvl9pPr marL="1316736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2587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63140" y="8763000"/>
            <a:ext cx="1399032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664940" y="8763000"/>
            <a:ext cx="1399032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  <a:t>4/10/26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736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1752607"/>
            <a:ext cx="28392120" cy="6362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7431" y="8069582"/>
            <a:ext cx="13926024" cy="3954778"/>
          </a:xfrm>
        </p:spPr>
        <p:txBody>
          <a:bodyPr anchor="b"/>
          <a:lstStyle>
            <a:lvl1pPr marL="0" indent="0">
              <a:buNone/>
              <a:defRPr sz="8640" b="1"/>
            </a:lvl1pPr>
            <a:lvl2pPr marL="1645920" indent="0">
              <a:buNone/>
              <a:defRPr sz="7200" b="1"/>
            </a:lvl2pPr>
            <a:lvl3pPr marL="3291840" indent="0">
              <a:buNone/>
              <a:defRPr sz="6480" b="1"/>
            </a:lvl3pPr>
            <a:lvl4pPr marL="4937760" indent="0">
              <a:buNone/>
              <a:defRPr sz="5760" b="1"/>
            </a:lvl4pPr>
            <a:lvl5pPr marL="6583680" indent="0">
              <a:buNone/>
              <a:defRPr sz="5760" b="1"/>
            </a:lvl5pPr>
            <a:lvl6pPr marL="8229600" indent="0">
              <a:buNone/>
              <a:defRPr sz="5760" b="1"/>
            </a:lvl6pPr>
            <a:lvl7pPr marL="9875520" indent="0">
              <a:buNone/>
              <a:defRPr sz="5760" b="1"/>
            </a:lvl7pPr>
            <a:lvl8pPr marL="11521440" indent="0">
              <a:buNone/>
              <a:defRPr sz="5760" b="1"/>
            </a:lvl8pPr>
            <a:lvl9pPr marL="13167360" indent="0">
              <a:buNone/>
              <a:defRPr sz="5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67431" y="12024360"/>
            <a:ext cx="13926024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664942" y="8069582"/>
            <a:ext cx="13994608" cy="3954778"/>
          </a:xfrm>
        </p:spPr>
        <p:txBody>
          <a:bodyPr anchor="b"/>
          <a:lstStyle>
            <a:lvl1pPr marL="0" indent="0">
              <a:buNone/>
              <a:defRPr sz="8640" b="1"/>
            </a:lvl1pPr>
            <a:lvl2pPr marL="1645920" indent="0">
              <a:buNone/>
              <a:defRPr sz="7200" b="1"/>
            </a:lvl2pPr>
            <a:lvl3pPr marL="3291840" indent="0">
              <a:buNone/>
              <a:defRPr sz="6480" b="1"/>
            </a:lvl3pPr>
            <a:lvl4pPr marL="4937760" indent="0">
              <a:buNone/>
              <a:defRPr sz="5760" b="1"/>
            </a:lvl4pPr>
            <a:lvl5pPr marL="6583680" indent="0">
              <a:buNone/>
              <a:defRPr sz="5760" b="1"/>
            </a:lvl5pPr>
            <a:lvl6pPr marL="8229600" indent="0">
              <a:buNone/>
              <a:defRPr sz="5760" b="1"/>
            </a:lvl6pPr>
            <a:lvl7pPr marL="9875520" indent="0">
              <a:buNone/>
              <a:defRPr sz="5760" b="1"/>
            </a:lvl7pPr>
            <a:lvl8pPr marL="11521440" indent="0">
              <a:buNone/>
              <a:defRPr sz="5760" b="1"/>
            </a:lvl8pPr>
            <a:lvl9pPr marL="13167360" indent="0">
              <a:buNone/>
              <a:defRPr sz="5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664942" y="12024360"/>
            <a:ext cx="13994608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  <a:t>4/10/26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1748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  <a:t>4/10/26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0038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  <a:t>4/10/26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9753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2194560"/>
            <a:ext cx="10617041" cy="7680960"/>
          </a:xfrm>
        </p:spPr>
        <p:txBody>
          <a:bodyPr anchor="b"/>
          <a:lstStyle>
            <a:lvl1pPr>
              <a:defRPr sz="11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94608" y="4739647"/>
            <a:ext cx="16664940" cy="23393400"/>
          </a:xfrm>
        </p:spPr>
        <p:txBody>
          <a:bodyPr/>
          <a:lstStyle>
            <a:lvl1pPr>
              <a:defRPr sz="11520"/>
            </a:lvl1pPr>
            <a:lvl2pPr>
              <a:defRPr sz="10080"/>
            </a:lvl2pPr>
            <a:lvl3pPr>
              <a:defRPr sz="8640"/>
            </a:lvl3pPr>
            <a:lvl4pPr>
              <a:defRPr sz="7200"/>
            </a:lvl4pPr>
            <a:lvl5pPr>
              <a:defRPr sz="7200"/>
            </a:lvl5pPr>
            <a:lvl6pPr>
              <a:defRPr sz="7200"/>
            </a:lvl6pPr>
            <a:lvl7pPr>
              <a:defRPr sz="7200"/>
            </a:lvl7pPr>
            <a:lvl8pPr>
              <a:defRPr sz="7200"/>
            </a:lvl8pPr>
            <a:lvl9pPr>
              <a:defRPr sz="7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67428" y="9875520"/>
            <a:ext cx="10617041" cy="18295622"/>
          </a:xfrm>
        </p:spPr>
        <p:txBody>
          <a:bodyPr/>
          <a:lstStyle>
            <a:lvl1pPr marL="0" indent="0">
              <a:buNone/>
              <a:defRPr sz="5760"/>
            </a:lvl1pPr>
            <a:lvl2pPr marL="1645920" indent="0">
              <a:buNone/>
              <a:defRPr sz="5040"/>
            </a:lvl2pPr>
            <a:lvl3pPr marL="3291840" indent="0">
              <a:buNone/>
              <a:defRPr sz="4320"/>
            </a:lvl3pPr>
            <a:lvl4pPr marL="4937760" indent="0">
              <a:buNone/>
              <a:defRPr sz="3600"/>
            </a:lvl4pPr>
            <a:lvl5pPr marL="6583680" indent="0">
              <a:buNone/>
              <a:defRPr sz="3600"/>
            </a:lvl5pPr>
            <a:lvl6pPr marL="8229600" indent="0">
              <a:buNone/>
              <a:defRPr sz="3600"/>
            </a:lvl6pPr>
            <a:lvl7pPr marL="9875520" indent="0">
              <a:buNone/>
              <a:defRPr sz="3600"/>
            </a:lvl7pPr>
            <a:lvl8pPr marL="11521440" indent="0">
              <a:buNone/>
              <a:defRPr sz="3600"/>
            </a:lvl8pPr>
            <a:lvl9pPr marL="13167360" indent="0">
              <a:buNone/>
              <a:defRPr sz="3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  <a:t>4/10/26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7292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2194560"/>
            <a:ext cx="10617041" cy="7680960"/>
          </a:xfrm>
        </p:spPr>
        <p:txBody>
          <a:bodyPr anchor="b"/>
          <a:lstStyle>
            <a:lvl1pPr>
              <a:defRPr sz="11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994608" y="4739647"/>
            <a:ext cx="16664940" cy="23393400"/>
          </a:xfrm>
        </p:spPr>
        <p:txBody>
          <a:bodyPr anchor="t"/>
          <a:lstStyle>
            <a:lvl1pPr marL="0" indent="0">
              <a:buNone/>
              <a:defRPr sz="11520"/>
            </a:lvl1pPr>
            <a:lvl2pPr marL="1645920" indent="0">
              <a:buNone/>
              <a:defRPr sz="10080"/>
            </a:lvl2pPr>
            <a:lvl3pPr marL="3291840" indent="0">
              <a:buNone/>
              <a:defRPr sz="8640"/>
            </a:lvl3pPr>
            <a:lvl4pPr marL="4937760" indent="0">
              <a:buNone/>
              <a:defRPr sz="7200"/>
            </a:lvl4pPr>
            <a:lvl5pPr marL="6583680" indent="0">
              <a:buNone/>
              <a:defRPr sz="7200"/>
            </a:lvl5pPr>
            <a:lvl6pPr marL="8229600" indent="0">
              <a:buNone/>
              <a:defRPr sz="7200"/>
            </a:lvl6pPr>
            <a:lvl7pPr marL="9875520" indent="0">
              <a:buNone/>
              <a:defRPr sz="7200"/>
            </a:lvl7pPr>
            <a:lvl8pPr marL="11521440" indent="0">
              <a:buNone/>
              <a:defRPr sz="7200"/>
            </a:lvl8pPr>
            <a:lvl9pPr marL="13167360" indent="0">
              <a:buNone/>
              <a:defRPr sz="7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67428" y="9875520"/>
            <a:ext cx="10617041" cy="18295622"/>
          </a:xfrm>
        </p:spPr>
        <p:txBody>
          <a:bodyPr/>
          <a:lstStyle>
            <a:lvl1pPr marL="0" indent="0">
              <a:buNone/>
              <a:defRPr sz="5760"/>
            </a:lvl1pPr>
            <a:lvl2pPr marL="1645920" indent="0">
              <a:buNone/>
              <a:defRPr sz="5040"/>
            </a:lvl2pPr>
            <a:lvl3pPr marL="3291840" indent="0">
              <a:buNone/>
              <a:defRPr sz="4320"/>
            </a:lvl3pPr>
            <a:lvl4pPr marL="4937760" indent="0">
              <a:buNone/>
              <a:defRPr sz="3600"/>
            </a:lvl4pPr>
            <a:lvl5pPr marL="6583680" indent="0">
              <a:buNone/>
              <a:defRPr sz="3600"/>
            </a:lvl5pPr>
            <a:lvl6pPr marL="8229600" indent="0">
              <a:buNone/>
              <a:defRPr sz="3600"/>
            </a:lvl6pPr>
            <a:lvl7pPr marL="9875520" indent="0">
              <a:buNone/>
              <a:defRPr sz="3600"/>
            </a:lvl7pPr>
            <a:lvl8pPr marL="11521440" indent="0">
              <a:buNone/>
              <a:defRPr sz="3600"/>
            </a:lvl8pPr>
            <a:lvl9pPr marL="13167360" indent="0">
              <a:buNone/>
              <a:defRPr sz="3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  <a:t>4/10/26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900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499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557232" y="1752600"/>
            <a:ext cx="709803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63142" y="1752600"/>
            <a:ext cx="2088261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4787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63140" y="1752607"/>
            <a:ext cx="2839212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3140" y="8763000"/>
            <a:ext cx="2839212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63140" y="30510487"/>
            <a:ext cx="740664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3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7E097D-BF14-0048-A1F1-91A4B3DB23CE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04220" y="30510487"/>
            <a:ext cx="1110996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3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3248620" y="30510487"/>
            <a:ext cx="740664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3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29E7E3-3D05-DC41-B909-139336B5B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931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291840" rtl="0" eaLnBrk="1" latinLnBrk="0" hangingPunct="1">
        <a:lnSpc>
          <a:spcPct val="90000"/>
        </a:lnSpc>
        <a:spcBef>
          <a:spcPct val="0"/>
        </a:spcBef>
        <a:buNone/>
        <a:defRPr sz="15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22960" indent="-822960" algn="l" defTabSz="3291840" rtl="0" eaLnBrk="1" latinLnBrk="0" hangingPunct="1">
        <a:lnSpc>
          <a:spcPct val="90000"/>
        </a:lnSpc>
        <a:spcBef>
          <a:spcPts val="36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1pPr>
      <a:lvl2pPr marL="246888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11480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3pPr>
      <a:lvl4pPr marL="576072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4pPr>
      <a:lvl5pPr marL="740664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5pPr>
      <a:lvl6pPr marL="905256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6pPr>
      <a:lvl7pPr marL="1069848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7pPr>
      <a:lvl8pPr marL="1234440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8pPr>
      <a:lvl9pPr marL="1399032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1pPr>
      <a:lvl2pPr marL="164592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2pPr>
      <a:lvl3pPr marL="329184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3pPr>
      <a:lvl4pPr marL="493776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4pPr>
      <a:lvl5pPr marL="658368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5pPr>
      <a:lvl6pPr marL="822960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6pPr>
      <a:lvl7pPr marL="987552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7pPr>
      <a:lvl8pPr marL="1152144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8pPr>
      <a:lvl9pPr marL="1316736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30DDE03-7E2E-3057-8652-82D963F12450}"/>
              </a:ext>
            </a:extLst>
          </p:cNvPr>
          <p:cNvSpPr/>
          <p:nvPr/>
        </p:nvSpPr>
        <p:spPr>
          <a:xfrm>
            <a:off x="180406" y="182880"/>
            <a:ext cx="32504865" cy="3381901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8152C7-9E05-DA6E-4A0C-41CC30C2BC5A}"/>
              </a:ext>
            </a:extLst>
          </p:cNvPr>
          <p:cNvSpPr txBox="1"/>
          <p:nvPr/>
        </p:nvSpPr>
        <p:spPr>
          <a:xfrm>
            <a:off x="2629059" y="641851"/>
            <a:ext cx="27670066" cy="167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marR="5080" algn="ctr">
              <a:lnSpc>
                <a:spcPct val="106700"/>
              </a:lnSpc>
              <a:spcBef>
                <a:spcPts val="20"/>
              </a:spcBef>
            </a:pPr>
            <a:r>
              <a:rPr lang="en-US" sz="54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Segoe UI" panose="020B0502040204020203" pitchFamily="34" charset="0"/>
              </a:rPr>
              <a:t>Differential Diagnosis across the Parkinsonian Spectrum</a:t>
            </a:r>
          </a:p>
          <a:p>
            <a:pPr marL="12065" marR="5080" algn="ctr">
              <a:lnSpc>
                <a:spcPct val="106700"/>
              </a:lnSpc>
              <a:spcBef>
                <a:spcPts val="20"/>
              </a:spcBef>
            </a:pPr>
            <a:r>
              <a:rPr lang="en-US" sz="44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Century Gothic" panose="020B0502020202020204" pitchFamily="34" charset="0"/>
              </a:rPr>
              <a:t>Multi-Center Validation of Classification Models for PD, PD-Plus, and Neurologically Healthy Controls</a:t>
            </a:r>
            <a:endParaRPr lang="en-US" sz="44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D3D4EC-8253-4407-F3F0-641A9BC9C3F8}"/>
              </a:ext>
            </a:extLst>
          </p:cNvPr>
          <p:cNvSpPr txBox="1"/>
          <p:nvPr/>
        </p:nvSpPr>
        <p:spPr>
          <a:xfrm>
            <a:off x="180406" y="26530787"/>
            <a:ext cx="696418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spcBef>
                <a:spcPts val="395"/>
              </a:spcBef>
            </a:pPr>
            <a:r>
              <a:rPr lang="en-US" sz="4000" b="1" spc="-10" dirty="0">
                <a:solidFill>
                  <a:srgbClr val="0070C0"/>
                </a:solidFill>
                <a:latin typeface="Cambria" panose="02040503050406030204" pitchFamily="18" charset="0"/>
                <a:cs typeface="Tahoma"/>
              </a:rPr>
              <a:t>Modelling Diagnosis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5D5BFD0-085A-5267-CBC6-0AAD0FEFD36D}"/>
              </a:ext>
            </a:extLst>
          </p:cNvPr>
          <p:cNvSpPr txBox="1"/>
          <p:nvPr/>
        </p:nvSpPr>
        <p:spPr>
          <a:xfrm>
            <a:off x="189957" y="21708451"/>
            <a:ext cx="7489039" cy="3954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395"/>
              </a:spcBef>
            </a:pPr>
            <a:r>
              <a:rPr lang="en-US" sz="4000" b="1" spc="-10" dirty="0">
                <a:solidFill>
                  <a:srgbClr val="0070C0"/>
                </a:solidFill>
                <a:latin typeface="Cambria" panose="02040503050406030204" pitchFamily="18" charset="0"/>
                <a:cs typeface="Tahoma"/>
              </a:rPr>
              <a:t>Candidate Models</a:t>
            </a:r>
          </a:p>
          <a:p>
            <a:pPr marL="174625" marR="102235" indent="-161925">
              <a:lnSpc>
                <a:spcPct val="100000"/>
              </a:lnSpc>
              <a:spcBef>
                <a:spcPts val="290"/>
              </a:spcBef>
              <a:buFont typeface="Courier New" panose="02070309020205020404" pitchFamily="49" charset="0"/>
              <a:buChar char="o"/>
            </a:pPr>
            <a:r>
              <a:rPr lang="en-US" sz="3200" spc="-20" dirty="0">
                <a:solidFill>
                  <a:schemeClr val="tx1"/>
                </a:solidFill>
                <a:latin typeface="Cambria" panose="02040503050406030204" pitchFamily="18" charset="0"/>
                <a:cs typeface="Tahoma"/>
              </a:rPr>
              <a:t>Random</a:t>
            </a:r>
            <a:r>
              <a:rPr lang="en-US" sz="3200" spc="-15" dirty="0">
                <a:solidFill>
                  <a:schemeClr val="tx1"/>
                </a:solidFill>
                <a:latin typeface="Cambria" panose="02040503050406030204" pitchFamily="18" charset="0"/>
                <a:cs typeface="Tahoma"/>
              </a:rPr>
              <a:t> </a:t>
            </a:r>
            <a:r>
              <a:rPr lang="en-US" sz="3200" spc="-10" dirty="0">
                <a:solidFill>
                  <a:schemeClr val="tx1"/>
                </a:solidFill>
                <a:latin typeface="Cambria" panose="02040503050406030204" pitchFamily="18" charset="0"/>
                <a:cs typeface="Tahoma"/>
              </a:rPr>
              <a:t>Forest (</a:t>
            </a:r>
            <a:r>
              <a:rPr lang="en-US" sz="3200" dirty="0">
                <a:solidFill>
                  <a:schemeClr val="tx1"/>
                </a:solidFill>
                <a:latin typeface="Cambria" panose="02040503050406030204" pitchFamily="18" charset="0"/>
                <a:cs typeface="Tahoma"/>
              </a:rPr>
              <a:t>RF)</a:t>
            </a:r>
          </a:p>
          <a:p>
            <a:pPr marL="174625" marR="55244" indent="-161925">
              <a:lnSpc>
                <a:spcPct val="100000"/>
              </a:lnSpc>
              <a:spcBef>
                <a:spcPts val="284"/>
              </a:spcBef>
              <a:buFont typeface="Courier New" panose="02070309020205020404" pitchFamily="49" charset="0"/>
              <a:buChar char="o"/>
            </a:pPr>
            <a:r>
              <a:rPr lang="en-US" sz="3200" spc="-10" dirty="0">
                <a:solidFill>
                  <a:schemeClr val="tx1"/>
                </a:solidFill>
                <a:latin typeface="Cambria" panose="02040503050406030204" pitchFamily="18" charset="0"/>
                <a:cs typeface="Tahoma"/>
              </a:rPr>
              <a:t>Logistic</a:t>
            </a:r>
            <a:r>
              <a:rPr lang="en-US" sz="3200" spc="-5" dirty="0">
                <a:solidFill>
                  <a:schemeClr val="tx1"/>
                </a:solidFill>
                <a:latin typeface="Cambria" panose="02040503050406030204" pitchFamily="18" charset="0"/>
                <a:cs typeface="Tahoma"/>
              </a:rPr>
              <a:t> </a:t>
            </a:r>
            <a:r>
              <a:rPr lang="en-US" sz="3200" spc="-35" dirty="0">
                <a:solidFill>
                  <a:schemeClr val="tx1"/>
                </a:solidFill>
                <a:latin typeface="Cambria" panose="02040503050406030204" pitchFamily="18" charset="0"/>
                <a:cs typeface="Tahoma"/>
              </a:rPr>
              <a:t>Regression</a:t>
            </a:r>
          </a:p>
          <a:p>
            <a:pPr marL="174625" marR="102235" indent="-161925" algn="just">
              <a:spcBef>
                <a:spcPts val="290"/>
              </a:spcBef>
              <a:buFont typeface="Courier New" panose="02070309020205020404" pitchFamily="49" charset="0"/>
              <a:buChar char="o"/>
            </a:pPr>
            <a:r>
              <a:rPr lang="en-US" sz="3200" spc="-20" dirty="0">
                <a:solidFill>
                  <a:schemeClr val="tx1"/>
                </a:solidFill>
                <a:latin typeface="Cambria" panose="02040503050406030204" pitchFamily="18" charset="0"/>
                <a:cs typeface="Tahoma"/>
              </a:rPr>
              <a:t>Support Vector Machine (SVM)</a:t>
            </a:r>
          </a:p>
          <a:p>
            <a:pPr marL="174625" marR="102235" indent="-161925">
              <a:spcBef>
                <a:spcPts val="290"/>
              </a:spcBef>
              <a:buFont typeface="Courier New" panose="02070309020205020404" pitchFamily="49" charset="0"/>
              <a:buChar char="o"/>
            </a:pPr>
            <a:r>
              <a:rPr lang="en-US" sz="3200" spc="-20" dirty="0">
                <a:latin typeface="Cambria" panose="02040503050406030204" pitchFamily="18" charset="0"/>
                <a:cs typeface="Tahoma"/>
              </a:rPr>
              <a:t>Gradient Boosting</a:t>
            </a:r>
          </a:p>
          <a:p>
            <a:pPr marL="174625" marR="102235" indent="-161925">
              <a:spcBef>
                <a:spcPts val="290"/>
              </a:spcBef>
              <a:buFont typeface="Courier New" panose="02070309020205020404" pitchFamily="49" charset="0"/>
              <a:buChar char="o"/>
            </a:pPr>
            <a:r>
              <a:rPr lang="en-US" sz="3200" spc="-20" dirty="0">
                <a:solidFill>
                  <a:schemeClr val="tx1"/>
                </a:solidFill>
                <a:latin typeface="Cambria" panose="02040503050406030204" pitchFamily="18" charset="0"/>
                <a:cs typeface="Tahoma"/>
              </a:rPr>
              <a:t>K Nearest Neighbors (KNN)</a:t>
            </a:r>
          </a:p>
          <a:p>
            <a:pPr marL="174625" marR="55244" indent="-161925">
              <a:lnSpc>
                <a:spcPct val="100000"/>
              </a:lnSpc>
              <a:spcBef>
                <a:spcPts val="284"/>
              </a:spcBef>
              <a:buFont typeface="Courier New" panose="02070309020205020404" pitchFamily="49" charset="0"/>
              <a:buChar char="o"/>
            </a:pPr>
            <a:endParaRPr lang="en-US" sz="3600" b="1" spc="-25" dirty="0">
              <a:latin typeface="Arial"/>
              <a:cs typeface="Arial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F6A96D-3B53-BF34-5CFB-23E876ED3618}"/>
              </a:ext>
            </a:extLst>
          </p:cNvPr>
          <p:cNvSpPr txBox="1"/>
          <p:nvPr/>
        </p:nvSpPr>
        <p:spPr>
          <a:xfrm>
            <a:off x="8984404" y="20032588"/>
            <a:ext cx="1761348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500" b="1" spc="-112" dirty="0">
                <a:solidFill>
                  <a:schemeClr val="tx2"/>
                </a:solidFill>
                <a:latin typeface="Century Gothic" panose="020B0502020202020204" pitchFamily="34" charset="0"/>
                <a:cs typeface="Segoe UI" panose="020B0502040204020203" pitchFamily="34" charset="0"/>
              </a:rPr>
              <a:t>1. Healthy Controls vs Parkinson’s</a:t>
            </a:r>
            <a:endParaRPr lang="en-US" sz="4500" dirty="0"/>
          </a:p>
        </p:txBody>
      </p:sp>
      <p:graphicFrame>
        <p:nvGraphicFramePr>
          <p:cNvPr id="22" name="object 4">
            <a:extLst>
              <a:ext uri="{FF2B5EF4-FFF2-40B4-BE49-F238E27FC236}">
                <a16:creationId xmlns:a16="http://schemas.microsoft.com/office/drawing/2014/main" id="{62EDA4B7-933D-24F9-C4F4-6B5996D33E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8192767"/>
              </p:ext>
            </p:extLst>
          </p:nvPr>
        </p:nvGraphicFramePr>
        <p:xfrm>
          <a:off x="9114964" y="21067530"/>
          <a:ext cx="9940250" cy="45958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299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125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3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429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4291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68953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sz="2500" b="1" spc="-10" dirty="0">
                          <a:solidFill>
                            <a:schemeClr val="tx2"/>
                          </a:solidFill>
                          <a:latin typeface="Arial"/>
                          <a:cs typeface="Arial"/>
                        </a:rPr>
                        <a:t>Model</a:t>
                      </a:r>
                      <a:endParaRPr sz="2500" dirty="0">
                        <a:solidFill>
                          <a:schemeClr val="tx2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sz="2500" b="1" dirty="0">
                          <a:solidFill>
                            <a:schemeClr val="tx2"/>
                          </a:solidFill>
                          <a:latin typeface="Arial"/>
                          <a:cs typeface="Arial"/>
                        </a:rPr>
                        <a:t>C-</a:t>
                      </a:r>
                      <a:r>
                        <a:rPr sz="2500" b="1" spc="-10" dirty="0">
                          <a:solidFill>
                            <a:schemeClr val="tx2"/>
                          </a:solidFill>
                          <a:latin typeface="Arial"/>
                          <a:cs typeface="Arial"/>
                        </a:rPr>
                        <a:t>Index</a:t>
                      </a:r>
                      <a:endParaRPr sz="2500" dirty="0">
                        <a:solidFill>
                          <a:schemeClr val="tx2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sz="2500" b="1" spc="-10" dirty="0">
                          <a:solidFill>
                            <a:schemeClr val="tx2"/>
                          </a:solidFill>
                          <a:latin typeface="Arial"/>
                          <a:cs typeface="Arial"/>
                        </a:rPr>
                        <a:t>Sens</a:t>
                      </a:r>
                      <a:r>
                        <a:rPr lang="es-ES" sz="2500" b="1" spc="-10" dirty="0" err="1">
                          <a:solidFill>
                            <a:schemeClr val="tx2"/>
                          </a:solidFill>
                          <a:latin typeface="Arial"/>
                          <a:cs typeface="Arial"/>
                        </a:rPr>
                        <a:t>itivity</a:t>
                      </a:r>
                      <a:endParaRPr sz="2500" dirty="0">
                        <a:solidFill>
                          <a:schemeClr val="tx2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sz="2500" b="1" spc="-10" dirty="0">
                          <a:solidFill>
                            <a:schemeClr val="tx2"/>
                          </a:solidFill>
                          <a:latin typeface="Arial"/>
                          <a:cs typeface="Arial"/>
                        </a:rPr>
                        <a:t>Spec</a:t>
                      </a:r>
                      <a:r>
                        <a:rPr lang="es-ES" sz="2500" b="1" spc="-10" dirty="0" err="1">
                          <a:solidFill>
                            <a:schemeClr val="tx2"/>
                          </a:solidFill>
                          <a:latin typeface="Arial"/>
                          <a:cs typeface="Arial"/>
                        </a:rPr>
                        <a:t>ificity</a:t>
                      </a:r>
                      <a:endParaRPr sz="2500" dirty="0">
                        <a:solidFill>
                          <a:schemeClr val="tx2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sz="2500" b="1" spc="-25" dirty="0">
                          <a:solidFill>
                            <a:schemeClr val="tx2"/>
                          </a:solidFill>
                          <a:latin typeface="Arial"/>
                          <a:cs typeface="Arial"/>
                        </a:rPr>
                        <a:t>PPV</a:t>
                      </a:r>
                      <a:endParaRPr sz="2500" dirty="0">
                        <a:solidFill>
                          <a:schemeClr val="tx2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sz="2500" b="1" spc="-25" dirty="0">
                          <a:solidFill>
                            <a:schemeClr val="tx2"/>
                          </a:solidFill>
                          <a:latin typeface="Arial"/>
                          <a:cs typeface="Arial"/>
                        </a:rPr>
                        <a:t>NPV</a:t>
                      </a:r>
                      <a:endParaRPr sz="2500" dirty="0">
                        <a:solidFill>
                          <a:schemeClr val="tx2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938">
                <a:tc>
                  <a:txBody>
                    <a:bodyPr/>
                    <a:lstStyle/>
                    <a:p>
                      <a:pPr>
                        <a:lnSpc>
                          <a:spcPts val="775"/>
                        </a:lnSpc>
                        <a:spcBef>
                          <a:spcPts val="130"/>
                        </a:spcBef>
                      </a:pPr>
                      <a:endParaRPr sz="2500" dirty="0">
                        <a:latin typeface="Tahoma"/>
                        <a:cs typeface="Tahoma"/>
                      </a:endParaRPr>
                    </a:p>
                  </a:txBody>
                  <a:tcPr marL="0" marR="0" marT="1651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71120">
                        <a:lnSpc>
                          <a:spcPts val="775"/>
                        </a:lnSpc>
                        <a:spcBef>
                          <a:spcPts val="130"/>
                        </a:spcBef>
                      </a:pPr>
                      <a:endParaRPr sz="2500" dirty="0">
                        <a:latin typeface="Tahoma"/>
                        <a:cs typeface="Tahoma"/>
                      </a:endParaRPr>
                    </a:p>
                  </a:txBody>
                  <a:tcPr marL="0" marR="0" marT="1651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775"/>
                        </a:lnSpc>
                        <a:spcBef>
                          <a:spcPts val="130"/>
                        </a:spcBef>
                      </a:pPr>
                      <a:endParaRPr sz="2500" dirty="0">
                        <a:latin typeface="Arial"/>
                        <a:cs typeface="Arial"/>
                      </a:endParaRPr>
                    </a:p>
                  </a:txBody>
                  <a:tcPr marL="0" marR="0" marT="1651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71120">
                        <a:lnSpc>
                          <a:spcPts val="775"/>
                        </a:lnSpc>
                        <a:spcBef>
                          <a:spcPts val="130"/>
                        </a:spcBef>
                      </a:pPr>
                      <a:endParaRPr sz="2500" dirty="0">
                        <a:latin typeface="Tahoma"/>
                        <a:cs typeface="Tahoma"/>
                      </a:endParaRPr>
                    </a:p>
                  </a:txBody>
                  <a:tcPr marL="0" marR="0" marT="1651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71120">
                        <a:lnSpc>
                          <a:spcPts val="775"/>
                        </a:lnSpc>
                        <a:spcBef>
                          <a:spcPts val="130"/>
                        </a:spcBef>
                      </a:pPr>
                      <a:endParaRPr sz="2500" dirty="0">
                        <a:latin typeface="Tahoma"/>
                        <a:cs typeface="Tahoma"/>
                      </a:endParaRPr>
                    </a:p>
                  </a:txBody>
                  <a:tcPr marL="0" marR="0" marT="1651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51435">
                        <a:lnSpc>
                          <a:spcPts val="775"/>
                        </a:lnSpc>
                        <a:spcBef>
                          <a:spcPts val="130"/>
                        </a:spcBef>
                      </a:pPr>
                      <a:endParaRPr sz="2500" dirty="0">
                        <a:latin typeface="Tahoma"/>
                        <a:cs typeface="Tahoma"/>
                      </a:endParaRPr>
                    </a:p>
                  </a:txBody>
                  <a:tcPr marL="0" marR="0" marT="1651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847">
                <a:tc>
                  <a:txBody>
                    <a:bodyPr/>
                    <a:lstStyle/>
                    <a:p>
                      <a:pPr>
                        <a:lnSpc>
                          <a:spcPts val="710"/>
                        </a:lnSpc>
                      </a:pPr>
                      <a:endParaRPr sz="2500">
                        <a:latin typeface="Tahoma"/>
                        <a:cs typeface="Tahoma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1120">
                        <a:lnSpc>
                          <a:spcPts val="710"/>
                        </a:lnSpc>
                      </a:pPr>
                      <a:endParaRPr sz="2500">
                        <a:latin typeface="Tahoma"/>
                        <a:cs typeface="Tahoma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710"/>
                        </a:lnSpc>
                      </a:pPr>
                      <a:endParaRPr sz="2500">
                        <a:latin typeface="Arial"/>
                        <a:cs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1120">
                        <a:lnSpc>
                          <a:spcPts val="710"/>
                        </a:lnSpc>
                      </a:pPr>
                      <a:endParaRPr sz="2500" dirty="0">
                        <a:latin typeface="Tahoma"/>
                        <a:cs typeface="Tahoma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1120">
                        <a:lnSpc>
                          <a:spcPts val="710"/>
                        </a:lnSpc>
                      </a:pPr>
                      <a:endParaRPr sz="2500">
                        <a:latin typeface="Tahoma"/>
                        <a:cs typeface="Tahoma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1435">
                        <a:lnSpc>
                          <a:spcPts val="710"/>
                        </a:lnSpc>
                      </a:pPr>
                      <a:endParaRPr sz="2500">
                        <a:latin typeface="Tahoma"/>
                        <a:cs typeface="Tahoma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847">
                <a:tc>
                  <a:txBody>
                    <a:bodyPr/>
                    <a:lstStyle/>
                    <a:p>
                      <a:pPr>
                        <a:lnSpc>
                          <a:spcPts val="710"/>
                        </a:lnSpc>
                      </a:pPr>
                      <a:endParaRPr sz="2500">
                        <a:latin typeface="Tahoma"/>
                        <a:cs typeface="Tahoma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1435">
                        <a:lnSpc>
                          <a:spcPts val="710"/>
                        </a:lnSpc>
                      </a:pPr>
                      <a:endParaRPr sz="2500" dirty="0">
                        <a:latin typeface="Arial"/>
                        <a:cs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710"/>
                        </a:lnSpc>
                      </a:pPr>
                      <a:endParaRPr sz="2500">
                        <a:latin typeface="Arial"/>
                        <a:cs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1120">
                        <a:lnSpc>
                          <a:spcPts val="710"/>
                        </a:lnSpc>
                      </a:pPr>
                      <a:endParaRPr sz="2500">
                        <a:latin typeface="Tahoma"/>
                        <a:cs typeface="Tahoma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1120">
                        <a:lnSpc>
                          <a:spcPts val="710"/>
                        </a:lnSpc>
                      </a:pPr>
                      <a:endParaRPr sz="2500" dirty="0">
                        <a:latin typeface="Tahoma"/>
                        <a:cs typeface="Tahoma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710"/>
                        </a:lnSpc>
                      </a:pPr>
                      <a:endParaRPr sz="2500" dirty="0">
                        <a:latin typeface="Arial"/>
                        <a:cs typeface="Arial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847">
                <a:tc>
                  <a:txBody>
                    <a:bodyPr/>
                    <a:lstStyle/>
                    <a:p>
                      <a:pPr>
                        <a:lnSpc>
                          <a:spcPts val="710"/>
                        </a:lnSpc>
                      </a:pPr>
                      <a:endParaRPr sz="2500">
                        <a:latin typeface="Arial"/>
                        <a:cs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1435">
                        <a:lnSpc>
                          <a:spcPts val="710"/>
                        </a:lnSpc>
                      </a:pPr>
                      <a:endParaRPr sz="2500">
                        <a:latin typeface="Arial"/>
                        <a:cs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710"/>
                        </a:lnSpc>
                      </a:pPr>
                      <a:endParaRPr sz="2500">
                        <a:latin typeface="Arial"/>
                        <a:cs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1435">
                        <a:lnSpc>
                          <a:spcPts val="710"/>
                        </a:lnSpc>
                      </a:pPr>
                      <a:endParaRPr sz="2500">
                        <a:latin typeface="Arial"/>
                        <a:cs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1435">
                        <a:lnSpc>
                          <a:spcPts val="710"/>
                        </a:lnSpc>
                      </a:pPr>
                      <a:endParaRPr sz="2500" dirty="0">
                        <a:latin typeface="Arial"/>
                        <a:cs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710"/>
                        </a:lnSpc>
                      </a:pPr>
                      <a:endParaRPr sz="2500" dirty="0">
                        <a:latin typeface="Arial"/>
                        <a:cs typeface="Arial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7419">
                <a:tc>
                  <a:txBody>
                    <a:bodyPr/>
                    <a:lstStyle/>
                    <a:p>
                      <a:pPr>
                        <a:lnSpc>
                          <a:spcPts val="715"/>
                        </a:lnSpc>
                      </a:pPr>
                      <a:endParaRPr sz="2500">
                        <a:latin typeface="Tahoma"/>
                        <a:cs typeface="Tahoma"/>
                      </a:endParaRPr>
                    </a:p>
                  </a:txBody>
                  <a:tcPr marL="0" marR="0" marT="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120">
                        <a:lnSpc>
                          <a:spcPts val="715"/>
                        </a:lnSpc>
                      </a:pPr>
                      <a:endParaRPr sz="2500" dirty="0">
                        <a:latin typeface="Tahoma"/>
                        <a:cs typeface="Tahoma"/>
                      </a:endParaRPr>
                    </a:p>
                  </a:txBody>
                  <a:tcPr marL="0" marR="0" marT="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715"/>
                        </a:lnSpc>
                      </a:pPr>
                      <a:endParaRPr sz="25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120">
                        <a:lnSpc>
                          <a:spcPts val="715"/>
                        </a:lnSpc>
                      </a:pPr>
                      <a:endParaRPr sz="2500">
                        <a:latin typeface="Tahoma"/>
                        <a:cs typeface="Tahoma"/>
                      </a:endParaRPr>
                    </a:p>
                  </a:txBody>
                  <a:tcPr marL="0" marR="0" marT="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120">
                        <a:lnSpc>
                          <a:spcPts val="715"/>
                        </a:lnSpc>
                      </a:pPr>
                      <a:endParaRPr sz="2500" dirty="0">
                        <a:latin typeface="Tahoma"/>
                        <a:cs typeface="Tahoma"/>
                      </a:endParaRPr>
                    </a:p>
                  </a:txBody>
                  <a:tcPr marL="0" marR="0" marT="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715"/>
                        </a:lnSpc>
                      </a:pPr>
                      <a:endParaRPr sz="2500" dirty="0">
                        <a:latin typeface="Tahoma"/>
                        <a:cs typeface="Tahoma"/>
                      </a:endParaRPr>
                    </a:p>
                  </a:txBody>
                  <a:tcPr marL="0" marR="0" marT="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7" name="TextBox 36">
            <a:extLst>
              <a:ext uri="{FF2B5EF4-FFF2-40B4-BE49-F238E27FC236}">
                <a16:creationId xmlns:a16="http://schemas.microsoft.com/office/drawing/2014/main" id="{205E02A1-F422-22C0-D1E4-E16C3649E7D8}"/>
              </a:ext>
            </a:extLst>
          </p:cNvPr>
          <p:cNvSpPr txBox="1"/>
          <p:nvPr/>
        </p:nvSpPr>
        <p:spPr>
          <a:xfrm>
            <a:off x="180407" y="8876709"/>
            <a:ext cx="8414790" cy="784830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en-US" sz="4500" b="1" spc="-112" dirty="0">
                <a:solidFill>
                  <a:schemeClr val="bg1"/>
                </a:solidFill>
                <a:latin typeface="Century Gothic" panose="020B0502020202020204" pitchFamily="34" charset="0"/>
                <a:cs typeface="Segoe UI" panose="020B0502040204020203" pitchFamily="34" charset="0"/>
              </a:rPr>
              <a:t>Background</a:t>
            </a:r>
            <a:endParaRPr lang="en-US" sz="4500" dirty="0">
              <a:solidFill>
                <a:schemeClr val="bg1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8E30825-635A-01F4-8B29-CBDA17CCF7B6}"/>
              </a:ext>
            </a:extLst>
          </p:cNvPr>
          <p:cNvSpPr txBox="1"/>
          <p:nvPr/>
        </p:nvSpPr>
        <p:spPr>
          <a:xfrm>
            <a:off x="8984404" y="4860103"/>
            <a:ext cx="1020137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spcBef>
                <a:spcPts val="395"/>
              </a:spcBef>
            </a:pPr>
            <a:r>
              <a:rPr lang="en-US" sz="4000" b="1" spc="-10" dirty="0">
                <a:solidFill>
                  <a:schemeClr val="tx2"/>
                </a:solidFill>
                <a:latin typeface="Cambria" panose="02040503050406030204" pitchFamily="18" charset="0"/>
                <a:cs typeface="Tahoma"/>
              </a:rPr>
              <a:t>Data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F83CD82-FCC9-3F63-E1A2-10A2C1826DD1}"/>
              </a:ext>
            </a:extLst>
          </p:cNvPr>
          <p:cNvSpPr txBox="1"/>
          <p:nvPr/>
        </p:nvSpPr>
        <p:spPr>
          <a:xfrm>
            <a:off x="20889732" y="4783159"/>
            <a:ext cx="1761348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500" b="1" spc="-112" dirty="0">
                <a:solidFill>
                  <a:schemeClr val="tx2"/>
                </a:solidFill>
                <a:latin typeface="Century Gothic" panose="020B0502020202020204" pitchFamily="34" charset="0"/>
                <a:cs typeface="Segoe UI" panose="020B0502040204020203" pitchFamily="34" charset="0"/>
              </a:rPr>
              <a:t>2. PD vs PD-Plus</a:t>
            </a:r>
            <a:endParaRPr lang="en-US" sz="450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8CB6002-92CC-87FF-7D15-0B92ED934DDE}"/>
              </a:ext>
            </a:extLst>
          </p:cNvPr>
          <p:cNvSpPr txBox="1"/>
          <p:nvPr/>
        </p:nvSpPr>
        <p:spPr>
          <a:xfrm>
            <a:off x="6950095" y="2441241"/>
            <a:ext cx="20421600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2800" b="0" i="0" u="none" strike="noStrike" dirty="0" err="1">
                <a:solidFill>
                  <a:schemeClr val="bg1"/>
                </a:solidFill>
                <a:effectLst/>
                <a:latin typeface="Georgia" panose="02040502050405020303" pitchFamily="18" charset="0"/>
              </a:rPr>
              <a:t>Shuxi</a:t>
            </a:r>
            <a:r>
              <a:rPr lang="en-US" sz="2800" b="0" i="0" u="none" strike="noStrike" dirty="0">
                <a:solidFill>
                  <a:schemeClr val="bg1"/>
                </a:solidFill>
                <a:effectLst/>
                <a:latin typeface="Georgia" panose="02040502050405020303" pitchFamily="18" charset="0"/>
              </a:rPr>
              <a:t> Wu</a:t>
            </a:r>
            <a:r>
              <a:rPr lang="en-US" sz="2800" b="0" i="0" u="none" strike="noStrike" baseline="30000" dirty="0">
                <a:solidFill>
                  <a:schemeClr val="bg1"/>
                </a:solidFill>
                <a:effectLst/>
                <a:latin typeface="Georgia" panose="02040502050405020303" pitchFamily="18" charset="0"/>
              </a:rPr>
              <a:t>1</a:t>
            </a:r>
            <a:r>
              <a:rPr lang="en-US" sz="2800" b="0" i="0" u="none" strike="noStrike" dirty="0">
                <a:solidFill>
                  <a:schemeClr val="bg1"/>
                </a:solidFill>
                <a:effectLst/>
                <a:latin typeface="Georgia" panose="02040502050405020303" pitchFamily="18" charset="0"/>
              </a:rPr>
              <a:t>, Vivienne Wang</a:t>
            </a:r>
            <a:r>
              <a:rPr lang="en-US" sz="2800" b="0" i="0" u="none" strike="noStrike" baseline="30000" dirty="0">
                <a:solidFill>
                  <a:schemeClr val="bg1"/>
                </a:solidFill>
                <a:effectLst/>
                <a:latin typeface="Georgia" panose="02040502050405020303" pitchFamily="18" charset="0"/>
              </a:rPr>
              <a:t>1</a:t>
            </a:r>
            <a:r>
              <a:rPr lang="en-US" sz="2800" b="0" i="0" u="none" strike="noStrike" dirty="0">
                <a:solidFill>
                  <a:schemeClr val="bg1"/>
                </a:solidFill>
                <a:effectLst/>
                <a:latin typeface="Georgia" panose="02040502050405020303" pitchFamily="18" charset="0"/>
              </a:rPr>
              <a:t>, </a:t>
            </a:r>
            <a:r>
              <a:rPr lang="en-US" sz="2800" b="0" i="0" u="none" strike="noStrike" dirty="0" err="1">
                <a:solidFill>
                  <a:schemeClr val="bg1"/>
                </a:solidFill>
                <a:effectLst/>
                <a:latin typeface="Georgia" panose="02040502050405020303" pitchFamily="18" charset="0"/>
              </a:rPr>
              <a:t>Jianyue</a:t>
            </a:r>
            <a:r>
              <a:rPr lang="en-US" sz="2800" b="0" i="0" u="none" strike="noStrike" dirty="0">
                <a:solidFill>
                  <a:schemeClr val="bg1"/>
                </a:solidFill>
                <a:effectLst/>
                <a:latin typeface="Georgia" panose="02040502050405020303" pitchFamily="18" charset="0"/>
              </a:rPr>
              <a:t> Bai</a:t>
            </a:r>
            <a:r>
              <a:rPr lang="en-US" sz="2800" b="0" i="0" u="none" strike="noStrike" baseline="30000" dirty="0">
                <a:solidFill>
                  <a:schemeClr val="bg1"/>
                </a:solidFill>
                <a:effectLst/>
                <a:latin typeface="Georgia" panose="02040502050405020303" pitchFamily="18" charset="0"/>
              </a:rPr>
              <a:t>1</a:t>
            </a:r>
            <a:r>
              <a:rPr lang="en-US" sz="2800" b="0" i="0" u="none" strike="noStrike" dirty="0">
                <a:solidFill>
                  <a:schemeClr val="bg1"/>
                </a:solidFill>
                <a:effectLst/>
                <a:latin typeface="Georgia" panose="02040502050405020303" pitchFamily="18" charset="0"/>
              </a:rPr>
              <a:t>, Javier Mencia Ledo</a:t>
            </a:r>
            <a:r>
              <a:rPr lang="en-US" sz="2800" b="0" i="0" u="none" strike="noStrike" baseline="30000" dirty="0">
                <a:solidFill>
                  <a:schemeClr val="bg1"/>
                </a:solidFill>
                <a:effectLst/>
                <a:latin typeface="Georgia" panose="02040502050405020303" pitchFamily="18" charset="0"/>
              </a:rPr>
              <a:t>1</a:t>
            </a:r>
            <a:endParaRPr lang="en-US" sz="2800" b="0" dirty="0">
              <a:solidFill>
                <a:schemeClr val="bg1"/>
              </a:solidFill>
              <a:effectLst/>
            </a:endParaRPr>
          </a:p>
          <a:p>
            <a:pPr algn="ctr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2000" b="0" i="0" u="none" strike="noStrike" baseline="30000" dirty="0">
                <a:solidFill>
                  <a:schemeClr val="bg1"/>
                </a:solidFill>
                <a:effectLst/>
                <a:latin typeface="Georgia" panose="02040502050405020303" pitchFamily="18" charset="0"/>
              </a:rPr>
              <a:t>1</a:t>
            </a:r>
            <a:r>
              <a:rPr lang="en-US" sz="2000" b="0" i="0" u="none" strike="noStrike" dirty="0">
                <a:solidFill>
                  <a:schemeClr val="bg1"/>
                </a:solidFill>
                <a:effectLst/>
                <a:latin typeface="Georgia" panose="02040502050405020303" pitchFamily="18" charset="0"/>
              </a:rPr>
              <a:t>Dalla Lana School of Public Health, Biostatistics Division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0AC3AC0-4285-D731-FE3F-B3F272DBE280}"/>
              </a:ext>
            </a:extLst>
          </p:cNvPr>
          <p:cNvSpPr txBox="1"/>
          <p:nvPr/>
        </p:nvSpPr>
        <p:spPr>
          <a:xfrm>
            <a:off x="99504" y="12823509"/>
            <a:ext cx="8443444" cy="784830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en-US" sz="4500" b="1" spc="-112" dirty="0">
                <a:solidFill>
                  <a:schemeClr val="bg1"/>
                </a:solidFill>
                <a:latin typeface="Century Gothic" panose="020B0502020202020204" pitchFamily="34" charset="0"/>
                <a:cs typeface="Segoe UI" panose="020B0502040204020203" pitchFamily="34" charset="0"/>
              </a:rPr>
              <a:t>Objectives</a:t>
            </a:r>
            <a:endParaRPr lang="en-US" sz="4500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080A3AD-2274-232F-E45A-9764F9E97AE6}"/>
              </a:ext>
            </a:extLst>
          </p:cNvPr>
          <p:cNvSpPr txBox="1"/>
          <p:nvPr/>
        </p:nvSpPr>
        <p:spPr>
          <a:xfrm>
            <a:off x="99504" y="20923621"/>
            <a:ext cx="8443444" cy="784830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en-US" sz="4500" b="1" spc="-112" dirty="0">
                <a:solidFill>
                  <a:schemeClr val="bg1"/>
                </a:solidFill>
                <a:latin typeface="Century Gothic" panose="020B0502020202020204" pitchFamily="34" charset="0"/>
                <a:cs typeface="Segoe UI" panose="020B0502040204020203" pitchFamily="34" charset="0"/>
              </a:rPr>
              <a:t>Methods</a:t>
            </a:r>
            <a:endParaRPr lang="en-US" sz="4500" dirty="0">
              <a:solidFill>
                <a:schemeClr val="bg1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D336477-6C54-CA42-B95C-2C12234DC2DD}"/>
              </a:ext>
            </a:extLst>
          </p:cNvPr>
          <p:cNvSpPr txBox="1"/>
          <p:nvPr/>
        </p:nvSpPr>
        <p:spPr>
          <a:xfrm>
            <a:off x="8804257" y="3885682"/>
            <a:ext cx="23881014" cy="784830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en-US" sz="4500" b="1" spc="-112" dirty="0">
                <a:solidFill>
                  <a:schemeClr val="bg1"/>
                </a:solidFill>
                <a:latin typeface="Century Gothic" panose="020B0502020202020204" pitchFamily="34" charset="0"/>
                <a:cs typeface="Segoe UI" panose="020B0502040204020203" pitchFamily="34" charset="0"/>
              </a:rPr>
              <a:t>Results</a:t>
            </a:r>
            <a:endParaRPr lang="en-US" sz="4500" dirty="0">
              <a:solidFill>
                <a:schemeClr val="bg1"/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5B782BA-71AC-72B7-81DD-9BD4D1578988}"/>
              </a:ext>
            </a:extLst>
          </p:cNvPr>
          <p:cNvSpPr txBox="1"/>
          <p:nvPr/>
        </p:nvSpPr>
        <p:spPr>
          <a:xfrm>
            <a:off x="20889732" y="24642775"/>
            <a:ext cx="11876915" cy="784830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en-US" sz="4500" b="1" spc="-112" dirty="0">
                <a:solidFill>
                  <a:schemeClr val="bg1"/>
                </a:solidFill>
                <a:latin typeface="Century Gothic" panose="020B0502020202020204" pitchFamily="34" charset="0"/>
                <a:cs typeface="Segoe UI" panose="020B0502040204020203" pitchFamily="34" charset="0"/>
              </a:rPr>
              <a:t>Conclusion</a:t>
            </a:r>
            <a:endParaRPr lang="en-US" sz="4500" dirty="0">
              <a:solidFill>
                <a:schemeClr val="bg1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3220A86-0A0D-7413-5C80-23C3719C0946}"/>
              </a:ext>
            </a:extLst>
          </p:cNvPr>
          <p:cNvSpPr txBox="1"/>
          <p:nvPr/>
        </p:nvSpPr>
        <p:spPr>
          <a:xfrm>
            <a:off x="189957" y="3899782"/>
            <a:ext cx="8443444" cy="784830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en-US" sz="4500" b="1" spc="-112" dirty="0">
                <a:solidFill>
                  <a:schemeClr val="bg1"/>
                </a:solidFill>
                <a:latin typeface="Century Gothic" panose="020B0502020202020204" pitchFamily="34" charset="0"/>
                <a:cs typeface="Segoe UI" panose="020B0502040204020203" pitchFamily="34" charset="0"/>
              </a:rPr>
              <a:t>Overview</a:t>
            </a:r>
            <a:endParaRPr lang="en-US" sz="4500" dirty="0">
              <a:solidFill>
                <a:schemeClr val="bg1"/>
              </a:solidFill>
            </a:endParaRPr>
          </a:p>
        </p:txBody>
      </p:sp>
      <p:pic>
        <p:nvPicPr>
          <p:cNvPr id="1028" name="Picture 4" descr="Communications &amp; Branding Resources - Dalla Lana School of Public Health">
            <a:extLst>
              <a:ext uri="{FF2B5EF4-FFF2-40B4-BE49-F238E27FC236}">
                <a16:creationId xmlns:a16="http://schemas.microsoft.com/office/drawing/2014/main" id="{E60F3905-A6CF-40F5-832E-87404562A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004" y="2122383"/>
            <a:ext cx="4276326" cy="12444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86" name="Table 85">
            <a:extLst>
              <a:ext uri="{FF2B5EF4-FFF2-40B4-BE49-F238E27FC236}">
                <a16:creationId xmlns:a16="http://schemas.microsoft.com/office/drawing/2014/main" id="{913C36AB-F790-865B-B715-42C3B126B8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0837492"/>
              </p:ext>
            </p:extLst>
          </p:nvPr>
        </p:nvGraphicFramePr>
        <p:xfrm>
          <a:off x="8804257" y="5728005"/>
          <a:ext cx="11966870" cy="13675193"/>
        </p:xfrm>
        <a:graphic>
          <a:graphicData uri="http://schemas.openxmlformats.org/drawingml/2006/table">
            <a:tbl>
              <a:tblPr/>
              <a:tblGrid>
                <a:gridCol w="3064266">
                  <a:extLst>
                    <a:ext uri="{9D8B030D-6E8A-4147-A177-3AD203B41FA5}">
                      <a16:colId xmlns:a16="http://schemas.microsoft.com/office/drawing/2014/main" val="4094381698"/>
                    </a:ext>
                  </a:extLst>
                </a:gridCol>
                <a:gridCol w="2225651">
                  <a:extLst>
                    <a:ext uri="{9D8B030D-6E8A-4147-A177-3AD203B41FA5}">
                      <a16:colId xmlns:a16="http://schemas.microsoft.com/office/drawing/2014/main" val="1847911096"/>
                    </a:ext>
                  </a:extLst>
                </a:gridCol>
                <a:gridCol w="2225651">
                  <a:extLst>
                    <a:ext uri="{9D8B030D-6E8A-4147-A177-3AD203B41FA5}">
                      <a16:colId xmlns:a16="http://schemas.microsoft.com/office/drawing/2014/main" val="3771703843"/>
                    </a:ext>
                  </a:extLst>
                </a:gridCol>
                <a:gridCol w="2225651">
                  <a:extLst>
                    <a:ext uri="{9D8B030D-6E8A-4147-A177-3AD203B41FA5}">
                      <a16:colId xmlns:a16="http://schemas.microsoft.com/office/drawing/2014/main" val="775947912"/>
                    </a:ext>
                  </a:extLst>
                </a:gridCol>
                <a:gridCol w="2225651">
                  <a:extLst>
                    <a:ext uri="{9D8B030D-6E8A-4147-A177-3AD203B41FA5}">
                      <a16:colId xmlns:a16="http://schemas.microsoft.com/office/drawing/2014/main" val="2832029413"/>
                    </a:ext>
                  </a:extLst>
                </a:gridCol>
              </a:tblGrid>
              <a:tr h="1104596">
                <a:tc>
                  <a:txBody>
                    <a:bodyPr/>
                    <a:lstStyle/>
                    <a:p>
                      <a:pPr algn="r" fontAlgn="ctr"/>
                      <a:r>
                        <a:rPr lang="en-US" sz="3600" b="1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 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600" b="1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Overall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600" b="1" dirty="0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PD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600" b="1" dirty="0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Healthy control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600" b="1" dirty="0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PD-Plus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2017271"/>
                  </a:ext>
                </a:extLst>
              </a:tr>
              <a:tr h="968441"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b="1" dirty="0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Sample Size (n)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effectLst/>
                          <a:latin typeface="Cambria" panose="02040503050406030204" pitchFamily="18" charset="0"/>
                        </a:rPr>
                        <a:t>3541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effectLst/>
                          <a:latin typeface="Cambria" panose="02040503050406030204" pitchFamily="18" charset="0"/>
                        </a:rPr>
                        <a:t>2852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effectLst/>
                          <a:latin typeface="Cambria" panose="02040503050406030204" pitchFamily="18" charset="0"/>
                        </a:rPr>
                        <a:t>410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effectLst/>
                          <a:latin typeface="Cambria" panose="02040503050406030204" pitchFamily="18" charset="0"/>
                        </a:rPr>
                        <a:t>171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6077693"/>
                  </a:ext>
                </a:extLst>
              </a:tr>
              <a:tr h="979000"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b="1" dirty="0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Current Age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200">
                          <a:effectLst/>
                          <a:latin typeface="Cambria" panose="02040503050406030204" pitchFamily="18" charset="0"/>
                        </a:rPr>
                        <a:t>66.20 (10.04)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>
                          <a:effectLst/>
                          <a:latin typeface="Cambria" panose="02040503050406030204" pitchFamily="18" charset="0"/>
                        </a:rPr>
                        <a:t>66.59 (9.59)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>
                          <a:effectLst/>
                          <a:latin typeface="Cambria" panose="02040503050406030204" pitchFamily="18" charset="0"/>
                        </a:rPr>
                        <a:t>62.54 (12.22)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>
                          <a:effectLst/>
                          <a:latin typeface="Cambria" panose="02040503050406030204" pitchFamily="18" charset="0"/>
                        </a:rPr>
                        <a:t>66.64 (11.71)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9620280"/>
                  </a:ext>
                </a:extLst>
              </a:tr>
              <a:tr h="979000"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b="1" dirty="0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Number of Males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effectLst/>
                          <a:latin typeface="Cambria" panose="02040503050406030204" pitchFamily="18" charset="0"/>
                        </a:rPr>
                        <a:t>1804 (50.9%)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effectLst/>
                          <a:latin typeface="Cambria" panose="02040503050406030204" pitchFamily="18" charset="0"/>
                        </a:rPr>
                        <a:t>1612 (56.5%)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effectLst/>
                          <a:latin typeface="Cambria" panose="02040503050406030204" pitchFamily="18" charset="0"/>
                        </a:rPr>
                        <a:t>181 (44.1%)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effectLst/>
                          <a:latin typeface="Cambria" panose="02040503050406030204" pitchFamily="18" charset="0"/>
                        </a:rPr>
                        <a:t>78 (45.6%)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8399457"/>
                  </a:ext>
                </a:extLst>
              </a:tr>
              <a:tr h="1105282"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b="1" dirty="0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Disease Duration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effectLst/>
                          <a:latin typeface="Cambria" panose="02040503050406030204" pitchFamily="18" charset="0"/>
                        </a:rPr>
                        <a:t>9.64 (6.01)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>
                          <a:effectLst/>
                          <a:latin typeface="Cambria" panose="02040503050406030204" pitchFamily="18" charset="0"/>
                        </a:rPr>
                        <a:t>9.83 (5.98)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effectLst/>
                          <a:latin typeface="Cambria" panose="02040503050406030204" pitchFamily="18" charset="0"/>
                        </a:rPr>
                        <a:t>---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effectLst/>
                          <a:latin typeface="Cambria" panose="02040503050406030204" pitchFamily="18" charset="0"/>
                        </a:rPr>
                        <a:t>6.05 (5.50)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675502"/>
                  </a:ext>
                </a:extLst>
              </a:tr>
              <a:tr h="842159"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b="1" dirty="0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MoCA Score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200">
                          <a:effectLst/>
                          <a:latin typeface="Cambria" panose="02040503050406030204" pitchFamily="18" charset="0"/>
                        </a:rPr>
                        <a:t>26.70 (2.71)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>
                          <a:effectLst/>
                          <a:latin typeface="Cambria" panose="02040503050406030204" pitchFamily="18" charset="0"/>
                        </a:rPr>
                        <a:t>26.58 (2.53)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>
                          <a:effectLst/>
                          <a:latin typeface="Cambria" panose="02040503050406030204" pitchFamily="18" charset="0"/>
                        </a:rPr>
                        <a:t>27.78 (3.15)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>
                          <a:effectLst/>
                          <a:latin typeface="Cambria" panose="02040503050406030204" pitchFamily="18" charset="0"/>
                        </a:rPr>
                        <a:t>22.00 (nan)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8567550"/>
                  </a:ext>
                </a:extLst>
              </a:tr>
              <a:tr h="979000"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b="1" dirty="0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BDI Score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effectLst/>
                          <a:latin typeface="Cambria" panose="02040503050406030204" pitchFamily="18" charset="0"/>
                        </a:rPr>
                        <a:t>9.65 (7.53)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effectLst/>
                          <a:latin typeface="Cambria" panose="02040503050406030204" pitchFamily="18" charset="0"/>
                        </a:rPr>
                        <a:t>9.66 (7.35)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>
                          <a:effectLst/>
                          <a:latin typeface="Cambria" panose="02040503050406030204" pitchFamily="18" charset="0"/>
                        </a:rPr>
                        <a:t>6.24 (5.93)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>
                          <a:effectLst/>
                          <a:latin typeface="Cambria" panose="02040503050406030204" pitchFamily="18" charset="0"/>
                        </a:rPr>
                        <a:t>16.76 (10.45)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7051941"/>
                  </a:ext>
                </a:extLst>
              </a:tr>
              <a:tr h="705319"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b="1" dirty="0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MBI Score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200">
                          <a:effectLst/>
                          <a:latin typeface="Cambria" panose="02040503050406030204" pitchFamily="18" charset="0"/>
                        </a:rPr>
                        <a:t>0.94 (4.22)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effectLst/>
                          <a:latin typeface="Cambria" panose="02040503050406030204" pitchFamily="18" charset="0"/>
                        </a:rPr>
                        <a:t>0.93 (4.09)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effectLst/>
                          <a:latin typeface="Cambria" panose="02040503050406030204" pitchFamily="18" charset="0"/>
                        </a:rPr>
                        <a:t>0.33 (2.01)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>
                          <a:effectLst/>
                          <a:latin typeface="Cambria" panose="02040503050406030204" pitchFamily="18" charset="0"/>
                        </a:rPr>
                        <a:t>3.24 (8.62)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4066010"/>
                  </a:ext>
                </a:extLst>
              </a:tr>
              <a:tr h="705319"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b="1" dirty="0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EHI Score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200">
                          <a:effectLst/>
                          <a:latin typeface="Cambria" panose="02040503050406030204" pitchFamily="18" charset="0"/>
                        </a:rPr>
                        <a:t>0.71 (0.46)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effectLst/>
                          <a:latin typeface="Cambria" panose="02040503050406030204" pitchFamily="18" charset="0"/>
                        </a:rPr>
                        <a:t>0.72 (0.44)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effectLst/>
                          <a:latin typeface="Cambria" panose="02040503050406030204" pitchFamily="18" charset="0"/>
                        </a:rPr>
                        <a:t>0.66 (0.56)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effectLst/>
                          <a:latin typeface="Cambria" panose="02040503050406030204" pitchFamily="18" charset="0"/>
                        </a:rPr>
                        <a:t>0.72 (0.50)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321582"/>
                  </a:ext>
                </a:extLst>
              </a:tr>
              <a:tr h="1515803"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b="1" dirty="0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Loss of Smell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effectLst/>
                          <a:latin typeface="Cambria" panose="02040503050406030204" pitchFamily="18" charset="0"/>
                        </a:rPr>
                        <a:t>2537 (72.6%)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effectLst/>
                          <a:latin typeface="Cambria" panose="02040503050406030204" pitchFamily="18" charset="0"/>
                        </a:rPr>
                        <a:t>2090 (73.3%)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effectLst/>
                          <a:latin typeface="Cambria" panose="02040503050406030204" pitchFamily="18" charset="0"/>
                        </a:rPr>
                        <a:t>240 (58.5%)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effectLst/>
                          <a:latin typeface="Cambria" panose="02040503050406030204" pitchFamily="18" charset="0"/>
                        </a:rPr>
                        <a:t>101 (59.1%)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824190"/>
                  </a:ext>
                </a:extLst>
              </a:tr>
              <a:tr h="1114513"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b="1" dirty="0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Right Hand Dominant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200">
                          <a:effectLst/>
                          <a:latin typeface="Cambria" panose="02040503050406030204" pitchFamily="18" charset="0"/>
                        </a:rPr>
                        <a:t>1888 (53.3%)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>
                          <a:effectLst/>
                          <a:latin typeface="Cambria" panose="02040503050406030204" pitchFamily="18" charset="0"/>
                        </a:rPr>
                        <a:t>1765 (61.9%)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>
                          <a:effectLst/>
                          <a:latin typeface="Cambria" panose="02040503050406030204" pitchFamily="18" charset="0"/>
                        </a:rPr>
                        <a:t>20 (4.9%)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effectLst/>
                          <a:latin typeface="Cambria" panose="02040503050406030204" pitchFamily="18" charset="0"/>
                        </a:rPr>
                        <a:t>102 (59.6%)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8067186"/>
                  </a:ext>
                </a:extLst>
              </a:tr>
              <a:tr h="1105282"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b="1" dirty="0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Regular Exercise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effectLst/>
                          <a:latin typeface="Cambria" panose="02040503050406030204" pitchFamily="18" charset="0"/>
                        </a:rPr>
                        <a:t>1795 (50.7%)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effectLst/>
                          <a:latin typeface="Cambria" panose="02040503050406030204" pitchFamily="18" charset="0"/>
                        </a:rPr>
                        <a:t>1555 (54.5%)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effectLst/>
                          <a:latin typeface="Cambria" panose="02040503050406030204" pitchFamily="18" charset="0"/>
                        </a:rPr>
                        <a:t>162 (39.5%)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effectLst/>
                          <a:latin typeface="Cambria" panose="02040503050406030204" pitchFamily="18" charset="0"/>
                        </a:rPr>
                        <a:t>72 (42.1%)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3256907"/>
                  </a:ext>
                </a:extLst>
              </a:tr>
              <a:tr h="1515803"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b="1" dirty="0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Coffee Drinker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200">
                          <a:effectLst/>
                          <a:latin typeface="Cambria" panose="02040503050406030204" pitchFamily="18" charset="0"/>
                        </a:rPr>
                        <a:t>1735 (49.0%)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>
                          <a:effectLst/>
                          <a:latin typeface="Cambria" panose="02040503050406030204" pitchFamily="18" charset="0"/>
                        </a:rPr>
                        <a:t>1480 (51.9%)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>
                          <a:effectLst/>
                          <a:latin typeface="Cambria" panose="02040503050406030204" pitchFamily="18" charset="0"/>
                        </a:rPr>
                        <a:t>160 (39.0%)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effectLst/>
                          <a:latin typeface="Cambria" panose="02040503050406030204" pitchFamily="18" charset="0"/>
                        </a:rPr>
                        <a:t>90 (52.6%)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0427101"/>
                  </a:ext>
                </a:extLst>
              </a:tr>
            </a:tbl>
          </a:graphicData>
        </a:graphic>
      </p:graphicFrame>
      <p:sp>
        <p:nvSpPr>
          <p:cNvPr id="87" name="Rectangle 5">
            <a:extLst>
              <a:ext uri="{FF2B5EF4-FFF2-40B4-BE49-F238E27FC236}">
                <a16:creationId xmlns:a16="http://schemas.microsoft.com/office/drawing/2014/main" id="{17343BF4-91F3-1764-1A69-25CA4891C2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81891" y="3241616"/>
            <a:ext cx="369619404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00242B9-5919-FD19-5086-C257ACA8AC9D}"/>
              </a:ext>
            </a:extLst>
          </p:cNvPr>
          <p:cNvSpPr txBox="1"/>
          <p:nvPr/>
        </p:nvSpPr>
        <p:spPr>
          <a:xfrm>
            <a:off x="99504" y="17754733"/>
            <a:ext cx="8443444" cy="784830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en-US" sz="4500" b="1" spc="-112" dirty="0">
                <a:solidFill>
                  <a:schemeClr val="bg1"/>
                </a:solidFill>
                <a:latin typeface="Century Gothic" panose="020B0502020202020204" pitchFamily="34" charset="0"/>
                <a:cs typeface="Segoe UI" panose="020B0502040204020203" pitchFamily="34" charset="0"/>
              </a:rPr>
              <a:t>Measures</a:t>
            </a:r>
            <a:endParaRPr lang="en-US" sz="4500" dirty="0">
              <a:solidFill>
                <a:schemeClr val="bg1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E5D93F4-1FF8-C9BB-316B-436004596A35}"/>
              </a:ext>
            </a:extLst>
          </p:cNvPr>
          <p:cNvSpPr txBox="1"/>
          <p:nvPr/>
        </p:nvSpPr>
        <p:spPr>
          <a:xfrm>
            <a:off x="20889732" y="14771692"/>
            <a:ext cx="1761348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500" b="1" spc="-112" dirty="0">
                <a:solidFill>
                  <a:schemeClr val="tx2"/>
                </a:solidFill>
                <a:latin typeface="Century Gothic" panose="020B0502020202020204" pitchFamily="34" charset="0"/>
                <a:cs typeface="Segoe UI" panose="020B0502040204020203" pitchFamily="34" charset="0"/>
              </a:rPr>
              <a:t>Risk Drivers of Predictions</a:t>
            </a:r>
            <a:endParaRPr lang="en-US" sz="4500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B094DC2-D6CB-BB9E-BF96-CB596A963E10}"/>
              </a:ext>
            </a:extLst>
          </p:cNvPr>
          <p:cNvSpPr txBox="1"/>
          <p:nvPr/>
        </p:nvSpPr>
        <p:spPr>
          <a:xfrm>
            <a:off x="99504" y="13745067"/>
            <a:ext cx="8443444" cy="4108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27050" marR="102235" indent="-514350">
              <a:lnSpc>
                <a:spcPct val="100000"/>
              </a:lnSpc>
              <a:spcBef>
                <a:spcPts val="290"/>
              </a:spcBef>
              <a:buFont typeface="+mj-lt"/>
              <a:buAutoNum type="arabicPeriod"/>
            </a:pPr>
            <a:r>
              <a:rPr lang="en-US" sz="3200" spc="-20" dirty="0">
                <a:solidFill>
                  <a:schemeClr val="tx1"/>
                </a:solidFill>
                <a:latin typeface="Cambria" panose="02040503050406030204" pitchFamily="18" charset="0"/>
                <a:cs typeface="Tahoma"/>
              </a:rPr>
              <a:t>Evaluate and compare the efficacy of various models in differentiating healthy controls from PD cases.</a:t>
            </a:r>
          </a:p>
          <a:p>
            <a:pPr marL="527050" marR="102235" indent="-514350">
              <a:lnSpc>
                <a:spcPct val="100000"/>
              </a:lnSpc>
              <a:spcBef>
                <a:spcPts val="290"/>
              </a:spcBef>
              <a:buFont typeface="+mj-lt"/>
              <a:buAutoNum type="arabicPeriod"/>
            </a:pPr>
            <a:r>
              <a:rPr lang="en-US" sz="3200" spc="-20" dirty="0">
                <a:solidFill>
                  <a:schemeClr val="tx1"/>
                </a:solidFill>
                <a:latin typeface="Cambria" panose="02040503050406030204" pitchFamily="18" charset="0"/>
                <a:cs typeface="Tahoma"/>
              </a:rPr>
              <a:t>Deploy the optimal model to further categorize PD cases into PD and PD-plus subgroups.</a:t>
            </a:r>
          </a:p>
          <a:p>
            <a:pPr marL="527050" marR="102235" indent="-514350">
              <a:lnSpc>
                <a:spcPct val="100000"/>
              </a:lnSpc>
              <a:spcBef>
                <a:spcPts val="290"/>
              </a:spcBef>
              <a:buFont typeface="+mj-lt"/>
              <a:buAutoNum type="arabicPeriod"/>
            </a:pPr>
            <a:r>
              <a:rPr lang="en-US" sz="3200" spc="-20" dirty="0">
                <a:solidFill>
                  <a:schemeClr val="tx1"/>
                </a:solidFill>
                <a:latin typeface="Cambria" panose="02040503050406030204" pitchFamily="18" charset="0"/>
                <a:cs typeface="Tahoma"/>
              </a:rPr>
              <a:t>Interpret individual predictions and identify key risk drivers through SHAP analysis.</a:t>
            </a:r>
            <a:endParaRPr lang="en-US" sz="3200" spc="-20" dirty="0">
              <a:latin typeface="Cambria" panose="02040503050406030204" pitchFamily="18" charset="0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2149601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3595</TotalTime>
  <Words>354</Words>
  <Application>Microsoft Macintosh PowerPoint</Application>
  <PresentationFormat>Custom</PresentationFormat>
  <Paragraphs>97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Aptos</vt:lpstr>
      <vt:lpstr>Aptos Display</vt:lpstr>
      <vt:lpstr>Arial</vt:lpstr>
      <vt:lpstr>Cambria</vt:lpstr>
      <vt:lpstr>Century Gothic</vt:lpstr>
      <vt:lpstr>Courier New</vt:lpstr>
      <vt:lpstr>Georgia</vt:lpstr>
      <vt:lpstr>Tahoma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Javier Mencia Ledo</dc:creator>
  <cp:lastModifiedBy>Javier Mencia Ledo</cp:lastModifiedBy>
  <cp:revision>8</cp:revision>
  <dcterms:created xsi:type="dcterms:W3CDTF">2026-03-31T15:49:48Z</dcterms:created>
  <dcterms:modified xsi:type="dcterms:W3CDTF">2026-04-11T01:43:18Z</dcterms:modified>
</cp:coreProperties>
</file>