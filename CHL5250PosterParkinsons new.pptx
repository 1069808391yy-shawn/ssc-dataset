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918400" cy="3291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9917"/>
    <p:restoredTop sz="94737"/>
  </p:normalViewPr>
  <p:slideViewPr>
    <p:cSldViewPr snapToGrid="0">
      <p:cViewPr>
        <p:scale>
          <a:sx n="37" d="100"/>
          <a:sy n="37" d="100"/>
        </p:scale>
        <p:origin x="1864" y="-18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68880" y="5387342"/>
            <a:ext cx="27980640" cy="11460480"/>
          </a:xfrm>
        </p:spPr>
        <p:txBody>
          <a:bodyPr anchor="b"/>
          <a:lstStyle>
            <a:lvl1pPr algn="ctr">
              <a:defRPr sz="21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114800" y="17289782"/>
            <a:ext cx="24688800" cy="7947658"/>
          </a:xfrm>
        </p:spPr>
        <p:txBody>
          <a:bodyPr/>
          <a:lstStyle>
            <a:lvl1pPr marL="0" indent="0" algn="ctr">
              <a:buNone/>
              <a:defRPr sz="8640"/>
            </a:lvl1pPr>
            <a:lvl2pPr marL="1645920" indent="0" algn="ctr">
              <a:buNone/>
              <a:defRPr sz="7200"/>
            </a:lvl2pPr>
            <a:lvl3pPr marL="3291840" indent="0" algn="ctr">
              <a:buNone/>
              <a:defRPr sz="6480"/>
            </a:lvl3pPr>
            <a:lvl4pPr marL="4937760" indent="0" algn="ctr">
              <a:buNone/>
              <a:defRPr sz="5760"/>
            </a:lvl4pPr>
            <a:lvl5pPr marL="6583680" indent="0" algn="ctr">
              <a:buNone/>
              <a:defRPr sz="5760"/>
            </a:lvl5pPr>
            <a:lvl6pPr marL="8229600" indent="0" algn="ctr">
              <a:buNone/>
              <a:defRPr sz="5760"/>
            </a:lvl6pPr>
            <a:lvl7pPr marL="9875520" indent="0" algn="ctr">
              <a:buNone/>
              <a:defRPr sz="5760"/>
            </a:lvl7pPr>
            <a:lvl8pPr marL="11521440" indent="0" algn="ctr">
              <a:buNone/>
              <a:defRPr sz="5760"/>
            </a:lvl8pPr>
            <a:lvl9pPr marL="13167360" indent="0" algn="ctr">
              <a:buNone/>
              <a:defRPr sz="57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097D-BF14-0048-A1F1-91A4B3DB23CE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9E7E3-3D05-DC41-B909-139336B5BB9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097D-BF14-0048-A1F1-91A4B3DB23CE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9E7E3-3D05-DC41-B909-139336B5BB9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5997" y="8206749"/>
            <a:ext cx="28392120" cy="13693138"/>
          </a:xfrm>
        </p:spPr>
        <p:txBody>
          <a:bodyPr anchor="b"/>
          <a:lstStyle>
            <a:lvl1pPr>
              <a:defRPr sz="21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45997" y="22029429"/>
            <a:ext cx="28392120" cy="7200898"/>
          </a:xfrm>
        </p:spPr>
        <p:txBody>
          <a:bodyPr/>
          <a:lstStyle>
            <a:lvl1pPr marL="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1pPr>
            <a:lvl2pPr marL="1645920" indent="0">
              <a:buNone/>
              <a:defRPr sz="7200">
                <a:solidFill>
                  <a:schemeClr val="tx1">
                    <a:tint val="82000"/>
                  </a:schemeClr>
                </a:solidFill>
              </a:defRPr>
            </a:lvl2pPr>
            <a:lvl3pPr marL="3291840" indent="0">
              <a:buNone/>
              <a:defRPr sz="6480">
                <a:solidFill>
                  <a:schemeClr val="tx1">
                    <a:tint val="82000"/>
                  </a:schemeClr>
                </a:solidFill>
              </a:defRPr>
            </a:lvl3pPr>
            <a:lvl4pPr marL="493776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4pPr>
            <a:lvl5pPr marL="658368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5pPr>
            <a:lvl6pPr marL="822960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6pPr>
            <a:lvl7pPr marL="987552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7pPr>
            <a:lvl8pPr marL="1152144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8pPr>
            <a:lvl9pPr marL="1316736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097D-BF14-0048-A1F1-91A4B3DB23CE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9E7E3-3D05-DC41-B909-139336B5BB9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63140" y="8763000"/>
            <a:ext cx="1399032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664940" y="8763000"/>
            <a:ext cx="1399032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097D-BF14-0048-A1F1-91A4B3DB23CE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9E7E3-3D05-DC41-B909-139336B5BB9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1752607"/>
            <a:ext cx="28392120" cy="6362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7431" y="8069582"/>
            <a:ext cx="13926024" cy="3954778"/>
          </a:xfrm>
        </p:spPr>
        <p:txBody>
          <a:bodyPr anchor="b"/>
          <a:lstStyle>
            <a:lvl1pPr marL="0" indent="0">
              <a:buNone/>
              <a:defRPr sz="8640" b="1"/>
            </a:lvl1pPr>
            <a:lvl2pPr marL="1645920" indent="0">
              <a:buNone/>
              <a:defRPr sz="7200" b="1"/>
            </a:lvl2pPr>
            <a:lvl3pPr marL="3291840" indent="0">
              <a:buNone/>
              <a:defRPr sz="6480" b="1"/>
            </a:lvl3pPr>
            <a:lvl4pPr marL="4937760" indent="0">
              <a:buNone/>
              <a:defRPr sz="5760" b="1"/>
            </a:lvl4pPr>
            <a:lvl5pPr marL="6583680" indent="0">
              <a:buNone/>
              <a:defRPr sz="5760" b="1"/>
            </a:lvl5pPr>
            <a:lvl6pPr marL="8229600" indent="0">
              <a:buNone/>
              <a:defRPr sz="5760" b="1"/>
            </a:lvl6pPr>
            <a:lvl7pPr marL="9875520" indent="0">
              <a:buNone/>
              <a:defRPr sz="5760" b="1"/>
            </a:lvl7pPr>
            <a:lvl8pPr marL="11521440" indent="0">
              <a:buNone/>
              <a:defRPr sz="5760" b="1"/>
            </a:lvl8pPr>
            <a:lvl9pPr marL="13167360" indent="0">
              <a:buNone/>
              <a:defRPr sz="5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67431" y="12024360"/>
            <a:ext cx="13926024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664942" y="8069582"/>
            <a:ext cx="13994608" cy="3954778"/>
          </a:xfrm>
        </p:spPr>
        <p:txBody>
          <a:bodyPr anchor="b"/>
          <a:lstStyle>
            <a:lvl1pPr marL="0" indent="0">
              <a:buNone/>
              <a:defRPr sz="8640" b="1"/>
            </a:lvl1pPr>
            <a:lvl2pPr marL="1645920" indent="0">
              <a:buNone/>
              <a:defRPr sz="7200" b="1"/>
            </a:lvl2pPr>
            <a:lvl3pPr marL="3291840" indent="0">
              <a:buNone/>
              <a:defRPr sz="6480" b="1"/>
            </a:lvl3pPr>
            <a:lvl4pPr marL="4937760" indent="0">
              <a:buNone/>
              <a:defRPr sz="5760" b="1"/>
            </a:lvl4pPr>
            <a:lvl5pPr marL="6583680" indent="0">
              <a:buNone/>
              <a:defRPr sz="5760" b="1"/>
            </a:lvl5pPr>
            <a:lvl6pPr marL="8229600" indent="0">
              <a:buNone/>
              <a:defRPr sz="5760" b="1"/>
            </a:lvl6pPr>
            <a:lvl7pPr marL="9875520" indent="0">
              <a:buNone/>
              <a:defRPr sz="5760" b="1"/>
            </a:lvl7pPr>
            <a:lvl8pPr marL="11521440" indent="0">
              <a:buNone/>
              <a:defRPr sz="5760" b="1"/>
            </a:lvl8pPr>
            <a:lvl9pPr marL="13167360" indent="0">
              <a:buNone/>
              <a:defRPr sz="5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664942" y="12024360"/>
            <a:ext cx="13994608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097D-BF14-0048-A1F1-91A4B3DB23CE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9E7E3-3D05-DC41-B909-139336B5BB9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097D-BF14-0048-A1F1-91A4B3DB23CE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9E7E3-3D05-DC41-B909-139336B5BB9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097D-BF14-0048-A1F1-91A4B3DB23CE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9E7E3-3D05-DC41-B909-139336B5BB9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2194560"/>
            <a:ext cx="10617041" cy="7680960"/>
          </a:xfrm>
        </p:spPr>
        <p:txBody>
          <a:bodyPr anchor="b"/>
          <a:lstStyle>
            <a:lvl1pPr>
              <a:defRPr sz="11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94608" y="4739647"/>
            <a:ext cx="16664940" cy="23393400"/>
          </a:xfrm>
        </p:spPr>
        <p:txBody>
          <a:bodyPr/>
          <a:lstStyle>
            <a:lvl1pPr>
              <a:defRPr sz="11520"/>
            </a:lvl1pPr>
            <a:lvl2pPr>
              <a:defRPr sz="10080"/>
            </a:lvl2pPr>
            <a:lvl3pPr>
              <a:defRPr sz="8640"/>
            </a:lvl3pPr>
            <a:lvl4pPr>
              <a:defRPr sz="7200"/>
            </a:lvl4pPr>
            <a:lvl5pPr>
              <a:defRPr sz="7200"/>
            </a:lvl5pPr>
            <a:lvl6pPr>
              <a:defRPr sz="7200"/>
            </a:lvl6pPr>
            <a:lvl7pPr>
              <a:defRPr sz="7200"/>
            </a:lvl7pPr>
            <a:lvl8pPr>
              <a:defRPr sz="7200"/>
            </a:lvl8pPr>
            <a:lvl9pPr>
              <a:defRPr sz="7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67428" y="9875520"/>
            <a:ext cx="10617041" cy="18295622"/>
          </a:xfrm>
        </p:spPr>
        <p:txBody>
          <a:bodyPr/>
          <a:lstStyle>
            <a:lvl1pPr marL="0" indent="0">
              <a:buNone/>
              <a:defRPr sz="5760"/>
            </a:lvl1pPr>
            <a:lvl2pPr marL="1645920" indent="0">
              <a:buNone/>
              <a:defRPr sz="5040"/>
            </a:lvl2pPr>
            <a:lvl3pPr marL="3291840" indent="0">
              <a:buNone/>
              <a:defRPr sz="4320"/>
            </a:lvl3pPr>
            <a:lvl4pPr marL="4937760" indent="0">
              <a:buNone/>
              <a:defRPr sz="3600"/>
            </a:lvl4pPr>
            <a:lvl5pPr marL="6583680" indent="0">
              <a:buNone/>
              <a:defRPr sz="3600"/>
            </a:lvl5pPr>
            <a:lvl6pPr marL="8229600" indent="0">
              <a:buNone/>
              <a:defRPr sz="3600"/>
            </a:lvl6pPr>
            <a:lvl7pPr marL="9875520" indent="0">
              <a:buNone/>
              <a:defRPr sz="3600"/>
            </a:lvl7pPr>
            <a:lvl8pPr marL="11521440" indent="0">
              <a:buNone/>
              <a:defRPr sz="3600"/>
            </a:lvl8pPr>
            <a:lvl9pPr marL="13167360" indent="0">
              <a:buNone/>
              <a:defRPr sz="3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097D-BF14-0048-A1F1-91A4B3DB23CE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9E7E3-3D05-DC41-B909-139336B5BB9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2194560"/>
            <a:ext cx="10617041" cy="7680960"/>
          </a:xfrm>
        </p:spPr>
        <p:txBody>
          <a:bodyPr anchor="b"/>
          <a:lstStyle>
            <a:lvl1pPr>
              <a:defRPr sz="11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994608" y="4739647"/>
            <a:ext cx="16664940" cy="23393400"/>
          </a:xfrm>
        </p:spPr>
        <p:txBody>
          <a:bodyPr anchor="t"/>
          <a:lstStyle>
            <a:lvl1pPr marL="0" indent="0">
              <a:buNone/>
              <a:defRPr sz="11520"/>
            </a:lvl1pPr>
            <a:lvl2pPr marL="1645920" indent="0">
              <a:buNone/>
              <a:defRPr sz="10080"/>
            </a:lvl2pPr>
            <a:lvl3pPr marL="3291840" indent="0">
              <a:buNone/>
              <a:defRPr sz="8640"/>
            </a:lvl3pPr>
            <a:lvl4pPr marL="4937760" indent="0">
              <a:buNone/>
              <a:defRPr sz="7200"/>
            </a:lvl4pPr>
            <a:lvl5pPr marL="6583680" indent="0">
              <a:buNone/>
              <a:defRPr sz="7200"/>
            </a:lvl5pPr>
            <a:lvl6pPr marL="8229600" indent="0">
              <a:buNone/>
              <a:defRPr sz="7200"/>
            </a:lvl6pPr>
            <a:lvl7pPr marL="9875520" indent="0">
              <a:buNone/>
              <a:defRPr sz="7200"/>
            </a:lvl7pPr>
            <a:lvl8pPr marL="11521440" indent="0">
              <a:buNone/>
              <a:defRPr sz="7200"/>
            </a:lvl8pPr>
            <a:lvl9pPr marL="13167360" indent="0">
              <a:buNone/>
              <a:defRPr sz="7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67428" y="9875520"/>
            <a:ext cx="10617041" cy="18295622"/>
          </a:xfrm>
        </p:spPr>
        <p:txBody>
          <a:bodyPr/>
          <a:lstStyle>
            <a:lvl1pPr marL="0" indent="0">
              <a:buNone/>
              <a:defRPr sz="5760"/>
            </a:lvl1pPr>
            <a:lvl2pPr marL="1645920" indent="0">
              <a:buNone/>
              <a:defRPr sz="5040"/>
            </a:lvl2pPr>
            <a:lvl3pPr marL="3291840" indent="0">
              <a:buNone/>
              <a:defRPr sz="4320"/>
            </a:lvl3pPr>
            <a:lvl4pPr marL="4937760" indent="0">
              <a:buNone/>
              <a:defRPr sz="3600"/>
            </a:lvl4pPr>
            <a:lvl5pPr marL="6583680" indent="0">
              <a:buNone/>
              <a:defRPr sz="3600"/>
            </a:lvl5pPr>
            <a:lvl6pPr marL="8229600" indent="0">
              <a:buNone/>
              <a:defRPr sz="3600"/>
            </a:lvl6pPr>
            <a:lvl7pPr marL="9875520" indent="0">
              <a:buNone/>
              <a:defRPr sz="3600"/>
            </a:lvl7pPr>
            <a:lvl8pPr marL="11521440" indent="0">
              <a:buNone/>
              <a:defRPr sz="3600"/>
            </a:lvl8pPr>
            <a:lvl9pPr marL="13167360" indent="0">
              <a:buNone/>
              <a:defRPr sz="3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097D-BF14-0048-A1F1-91A4B3DB23CE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9E7E3-3D05-DC41-B909-139336B5BB9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097D-BF14-0048-A1F1-91A4B3DB23CE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9E7E3-3D05-DC41-B909-139336B5BB9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557232" y="1752600"/>
            <a:ext cx="709803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63142" y="1752600"/>
            <a:ext cx="2088261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097D-BF14-0048-A1F1-91A4B3DB23CE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9E7E3-3D05-DC41-B909-139336B5BB9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63140" y="1752607"/>
            <a:ext cx="2839212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3140" y="8763000"/>
            <a:ext cx="2839212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63140" y="30510487"/>
            <a:ext cx="740664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3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7E097D-BF14-0048-A1F1-91A4B3DB23CE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04220" y="30510487"/>
            <a:ext cx="1110996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3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3248620" y="30510487"/>
            <a:ext cx="740664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3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29E7E3-3D05-DC41-B909-139336B5BB9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291840" rtl="0" eaLnBrk="1" latinLnBrk="0" hangingPunct="1">
        <a:lnSpc>
          <a:spcPct val="90000"/>
        </a:lnSpc>
        <a:spcBef>
          <a:spcPct val="0"/>
        </a:spcBef>
        <a:buNone/>
        <a:defRPr sz="158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22960" indent="-822960" algn="l" defTabSz="3291840" rtl="0" eaLnBrk="1" latinLnBrk="0" hangingPunct="1">
        <a:lnSpc>
          <a:spcPct val="90000"/>
        </a:lnSpc>
        <a:spcBef>
          <a:spcPts val="3600"/>
        </a:spcBef>
        <a:buFont typeface="Arial" panose="020B060402020209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1pPr>
      <a:lvl2pPr marL="246888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9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11480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9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3pPr>
      <a:lvl4pPr marL="576072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9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4pPr>
      <a:lvl5pPr marL="740664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9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5pPr>
      <a:lvl6pPr marL="905256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9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6pPr>
      <a:lvl7pPr marL="1069848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9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7pPr>
      <a:lvl8pPr marL="1234440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9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8pPr>
      <a:lvl9pPr marL="1399032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9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1pPr>
      <a:lvl2pPr marL="164592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2pPr>
      <a:lvl3pPr marL="329184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3pPr>
      <a:lvl4pPr marL="493776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4pPr>
      <a:lvl5pPr marL="658368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5pPr>
      <a:lvl6pPr marL="822960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6pPr>
      <a:lvl7pPr marL="987552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7pPr>
      <a:lvl8pPr marL="1152144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8pPr>
      <a:lvl9pPr marL="1316736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406" y="182880"/>
            <a:ext cx="32504865" cy="3381901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629059" y="641851"/>
            <a:ext cx="27670066" cy="167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marR="5080" algn="ctr">
              <a:lnSpc>
                <a:spcPct val="107000"/>
              </a:lnSpc>
              <a:spcBef>
                <a:spcPts val="20"/>
              </a:spcBef>
            </a:pPr>
            <a:r>
              <a:rPr lang="en-US" sz="54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Segoe UI" panose="020B0502040204020203" pitchFamily="34" charset="0"/>
              </a:rPr>
              <a:t>Differential Diagnosis across the Parkinsonian Spectrum</a:t>
            </a:r>
          </a:p>
          <a:p>
            <a:pPr marL="12065" marR="5080" algn="ctr">
              <a:lnSpc>
                <a:spcPct val="107000"/>
              </a:lnSpc>
              <a:spcBef>
                <a:spcPts val="20"/>
              </a:spcBef>
            </a:pPr>
            <a:r>
              <a:rPr lang="en-US" sz="44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Century Gothic" panose="020B0502020202020204" pitchFamily="34" charset="0"/>
              </a:rPr>
              <a:t>Multi-Center Validation of Classification Models for PD, PD-Plus, and Neurologically Healthy Controls</a:t>
            </a:r>
            <a:endParaRPr lang="en-US" sz="44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33350" y="17422802"/>
            <a:ext cx="8225155" cy="1523588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12700">
              <a:lnSpc>
                <a:spcPct val="100000"/>
              </a:lnSpc>
              <a:spcBef>
                <a:spcPts val="395"/>
              </a:spcBef>
            </a:pPr>
            <a:r>
              <a:rPr lang="en-US" sz="3000" spc="-10" dirty="0">
                <a:solidFill>
                  <a:srgbClr val="0070C0"/>
                </a:solidFill>
                <a:latin typeface="Times New Roman" panose="02020503050405090304" charset="0"/>
                <a:cs typeface="Times New Roman" panose="02020503050405090304" charset="0"/>
                <a:sym typeface="+mn-ea"/>
              </a:rPr>
              <a:t>Variables: </a:t>
            </a:r>
            <a:endParaRPr lang="en-US" sz="3000" spc="-10" dirty="0">
              <a:solidFill>
                <a:srgbClr val="0070C0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pPr marL="584200" indent="-571500">
              <a:lnSpc>
                <a:spcPct val="100000"/>
              </a:lnSpc>
              <a:spcBef>
                <a:spcPts val="395"/>
              </a:spcBef>
              <a:buFont typeface="Arial" panose="020B0604020202090204" pitchFamily="34" charset="0"/>
              <a:buChar char="•"/>
            </a:pPr>
            <a:r>
              <a:rPr lang="en-US" sz="3000" spc="-10" dirty="0">
                <a:latin typeface="Times New Roman" panose="02020503050405090304" charset="0"/>
                <a:cs typeface="Times New Roman" panose="02020503050405090304" charset="0"/>
                <a:sym typeface="+mn-ea"/>
              </a:rPr>
              <a:t>Demographics: Age at visit, Gender</a:t>
            </a:r>
            <a:endParaRPr lang="en-US" sz="3000" spc="-10" dirty="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pPr marL="584200" indent="-571500">
              <a:lnSpc>
                <a:spcPct val="100000"/>
              </a:lnSpc>
              <a:spcBef>
                <a:spcPts val="395"/>
              </a:spcBef>
              <a:buFont typeface="Arial" panose="020B0604020202090204" pitchFamily="34" charset="0"/>
              <a:buChar char="•"/>
            </a:pPr>
            <a:r>
              <a:rPr lang="en-US" altLang="zh-CN" sz="3000" spc="-10" dirty="0">
                <a:latin typeface="Times New Roman" panose="02020503050405090304" charset="0"/>
                <a:cs typeface="Times New Roman" panose="02020503050405090304" charset="0"/>
                <a:sym typeface="+mn-ea"/>
              </a:rPr>
              <a:t>Clinical: disease duration, age at diagnosis, current symptoms, symptom laterality, loss of smell, dominant hand, exercise, coffee intake</a:t>
            </a:r>
            <a:endParaRPr lang="en-US" altLang="zh-CN" sz="3000" spc="-10" dirty="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pPr marL="584200" indent="-571500">
              <a:lnSpc>
                <a:spcPct val="100000"/>
              </a:lnSpc>
              <a:spcBef>
                <a:spcPts val="395"/>
              </a:spcBef>
              <a:buFont typeface="Arial" panose="020B0604020202090204" pitchFamily="34" charset="0"/>
              <a:buChar char="•"/>
            </a:pPr>
            <a:r>
              <a:rPr lang="en-US" altLang="zh-CN" sz="3000" spc="-10" dirty="0">
                <a:latin typeface="Times New Roman" panose="02020503050405090304" charset="0"/>
                <a:cs typeface="Times New Roman" panose="02020503050405090304" charset="0"/>
                <a:sym typeface="+mn-ea"/>
              </a:rPr>
              <a:t>Behavioural: MBI-C, BDI-II, MoCA, EHI score</a:t>
            </a:r>
            <a:endParaRPr lang="en-US" altLang="zh-CN" sz="3000" spc="-10" dirty="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pPr marL="12700" indent="0">
              <a:lnSpc>
                <a:spcPct val="100000"/>
              </a:lnSpc>
              <a:spcBef>
                <a:spcPts val="395"/>
              </a:spcBef>
              <a:buFont typeface="Arial" panose="020B0604020202090204" pitchFamily="34" charset="0"/>
              <a:buNone/>
            </a:pPr>
            <a:r>
              <a:rPr lang="en-US" altLang="zh-CN" sz="3000" spc="-10" dirty="0">
                <a:solidFill>
                  <a:srgbClr val="0070C0"/>
                </a:solidFill>
                <a:latin typeface="Times New Roman" panose="02020503050405090304" charset="0"/>
                <a:cs typeface="Times New Roman" panose="02020503050405090304" charset="0"/>
                <a:sym typeface="+mn-ea"/>
              </a:rPr>
              <a:t>Preprocessing:</a:t>
            </a:r>
            <a:endParaRPr lang="en-US" altLang="zh-CN" sz="3000" spc="-10" dirty="0">
              <a:solidFill>
                <a:srgbClr val="0070C0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pPr marL="527050" indent="-514350">
              <a:lnSpc>
                <a:spcPct val="100000"/>
              </a:lnSpc>
              <a:spcBef>
                <a:spcPts val="395"/>
              </a:spcBef>
              <a:buFont typeface="Arial" panose="020B0604020202090204" pitchFamily="34" charset="0"/>
              <a:buAutoNum type="arabicPeriod"/>
            </a:pPr>
            <a:r>
              <a:rPr lang="en-US" altLang="zh-CN" sz="3000" spc="-10" dirty="0">
                <a:latin typeface="Times New Roman" panose="02020503050405090304" charset="0"/>
                <a:cs typeface="Times New Roman" panose="02020503050405090304" charset="0"/>
                <a:sym typeface="+mn-ea"/>
              </a:rPr>
              <a:t>Median imputation for continuous variables; constant missing imputation for categorical variables to handle high missingness rates.</a:t>
            </a:r>
          </a:p>
          <a:p>
            <a:pPr marL="527050" indent="-514350">
              <a:lnSpc>
                <a:spcPct val="100000"/>
              </a:lnSpc>
              <a:spcBef>
                <a:spcPts val="395"/>
              </a:spcBef>
              <a:buFont typeface="Arial" panose="020B0604020202090204" pitchFamily="34" charset="0"/>
              <a:buAutoNum type="arabicPeriod"/>
            </a:pPr>
            <a:r>
              <a:rPr lang="en-US" altLang="zh-CN" sz="3000" spc="-10" dirty="0">
                <a:latin typeface="Times New Roman" panose="02020503050405090304" charset="0"/>
                <a:cs typeface="Times New Roman" panose="02020503050405090304" charset="0"/>
                <a:sym typeface="+mn-ea"/>
              </a:rPr>
              <a:t>StandardScaler for continuous variables; one-hot encoding for categorical variables</a:t>
            </a:r>
            <a:endParaRPr lang="en-US" altLang="zh-CN" sz="3000" spc="-10" dirty="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pPr marL="527050" indent="-514350">
              <a:lnSpc>
                <a:spcPct val="100000"/>
              </a:lnSpc>
              <a:spcBef>
                <a:spcPts val="395"/>
              </a:spcBef>
              <a:buFont typeface="Arial" panose="020B0604020202090204" pitchFamily="34" charset="0"/>
              <a:buAutoNum type="arabicPeriod"/>
            </a:pPr>
            <a:r>
              <a:rPr lang="en-US" altLang="zh-CN" sz="3000" spc="-10" dirty="0">
                <a:latin typeface="Times New Roman" panose="02020503050405090304" charset="0"/>
                <a:cs typeface="Times New Roman" panose="02020503050405090304" charset="0"/>
                <a:sym typeface="+mn-ea"/>
              </a:rPr>
              <a:t>SMOTE applied to address class imbalance in training.</a:t>
            </a:r>
          </a:p>
          <a:p>
            <a:pPr marL="12700" indent="0">
              <a:lnSpc>
                <a:spcPct val="100000"/>
              </a:lnSpc>
              <a:spcBef>
                <a:spcPts val="395"/>
              </a:spcBef>
              <a:buFont typeface="Arial" panose="020B0604020202090204" pitchFamily="34" charset="0"/>
              <a:buNone/>
            </a:pPr>
            <a:r>
              <a:rPr lang="en-US" altLang="zh-CN" sz="3000" spc="-10" dirty="0">
                <a:solidFill>
                  <a:srgbClr val="0070C0"/>
                </a:solidFill>
                <a:latin typeface="Times New Roman" panose="02020503050405090304" charset="0"/>
                <a:cs typeface="Times New Roman" panose="02020503050405090304" charset="0"/>
              </a:rPr>
              <a:t>6 Candidate Models: </a:t>
            </a:r>
          </a:p>
          <a:p>
            <a:pPr marL="12700" indent="0">
              <a:lnSpc>
                <a:spcPct val="100000"/>
              </a:lnSpc>
              <a:spcBef>
                <a:spcPts val="395"/>
              </a:spcBef>
              <a:buFont typeface="Arial" panose="020B0604020202090204" pitchFamily="34" charset="0"/>
              <a:buNone/>
            </a:pPr>
            <a:r>
              <a:rPr lang="en-US" altLang="zh-CN" sz="3000" spc="-10" dirty="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Tabular Transformer, Logistic Regression, Random Forest, SVM, Gradient Boosting, K Neares</a:t>
            </a:r>
            <a:r>
              <a:rPr lang="en-US" altLang="zh-CN" sz="3000" spc="-10" dirty="0">
                <a:latin typeface="Times New Roman" panose="02020503050405090304" charset="0"/>
                <a:cs typeface="Times New Roman" panose="02020503050405090304" charset="0"/>
              </a:rPr>
              <a:t>t Neighbors (KNN) models</a:t>
            </a:r>
            <a:endParaRPr lang="en-US" altLang="zh-CN" sz="3000" spc="-10" dirty="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pPr marL="12700" indent="0">
              <a:lnSpc>
                <a:spcPct val="100000"/>
              </a:lnSpc>
              <a:spcBef>
                <a:spcPts val="395"/>
              </a:spcBef>
              <a:buFont typeface="Arial" panose="020B0604020202090204" pitchFamily="34" charset="0"/>
              <a:buNone/>
            </a:pPr>
            <a:r>
              <a:rPr lang="en-US" altLang="zh-CN" sz="3000" spc="-10" dirty="0">
                <a:solidFill>
                  <a:srgbClr val="0070C0"/>
                </a:solidFill>
                <a:latin typeface="Times New Roman" panose="02020503050405090304" charset="0"/>
                <a:cs typeface="Times New Roman" panose="02020503050405090304" charset="0"/>
              </a:rPr>
              <a:t>Model Selection:</a:t>
            </a:r>
          </a:p>
          <a:p>
            <a:pPr marL="469900" indent="-457200">
              <a:lnSpc>
                <a:spcPct val="100000"/>
              </a:lnSpc>
              <a:spcBef>
                <a:spcPts val="395"/>
              </a:spcBef>
              <a:buFont typeface="Arial" panose="020B0604020202090204" pitchFamily="34" charset="0"/>
              <a:buChar char="•"/>
            </a:pPr>
            <a:r>
              <a:rPr lang="en-US" altLang="zh-CN" sz="3000" spc="-10" dirty="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3-fold CV optimized on weighted F1-scores with 20% holdout validation set</a:t>
            </a:r>
          </a:p>
          <a:p>
            <a:pPr marL="469900" indent="-457200">
              <a:lnSpc>
                <a:spcPct val="100000"/>
              </a:lnSpc>
              <a:spcBef>
                <a:spcPts val="395"/>
              </a:spcBef>
              <a:buFont typeface="Arial" panose="020B0604020202090204" pitchFamily="34" charset="0"/>
              <a:buChar char="•"/>
            </a:pPr>
            <a:r>
              <a:rPr lang="en-US" altLang="zh-CN" sz="3000" spc="-10" dirty="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Hyperparameter tuning via GridSearchCV with per-class threshold optimization</a:t>
            </a:r>
          </a:p>
          <a:p>
            <a:pPr marL="469900" indent="-457200" algn="l">
              <a:lnSpc>
                <a:spcPct val="100000"/>
              </a:lnSpc>
              <a:spcBef>
                <a:spcPts val="395"/>
              </a:spcBef>
              <a:buFont typeface="Arial" panose="020B0604020202090204" pitchFamily="34" charset="0"/>
              <a:buChar char="•"/>
            </a:pPr>
            <a:r>
              <a:rPr lang="en-US" altLang="zh-CN" sz="3000" spc="-10" dirty="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Final model selected based on Accuracy, Macro AUC, Macro F1, and Kappa </a:t>
            </a:r>
          </a:p>
          <a:p>
            <a:pPr marL="12700" algn="l">
              <a:lnSpc>
                <a:spcPct val="100000"/>
              </a:lnSpc>
              <a:spcBef>
                <a:spcPts val="395"/>
              </a:spcBef>
            </a:pPr>
            <a:r>
              <a:rPr lang="en-US" altLang="zh-CN" sz="3000" spc="-10" dirty="0">
                <a:solidFill>
                  <a:srgbClr val="0070C0"/>
                </a:solidFill>
                <a:latin typeface="Times New Roman" panose="02020503050405090304" charset="0"/>
                <a:cs typeface="Times New Roman" panose="02020503050405090304" charset="0"/>
              </a:rPr>
              <a:t>Model Diagonosis:</a:t>
            </a:r>
          </a:p>
          <a:p>
            <a:pPr marL="469900" indent="-457200">
              <a:lnSpc>
                <a:spcPct val="100000"/>
              </a:lnSpc>
              <a:spcBef>
                <a:spcPts val="395"/>
              </a:spcBef>
              <a:buFont typeface="Arial" panose="020B0604020202090204" pitchFamily="34" charset="0"/>
              <a:buChar char="•"/>
            </a:pPr>
            <a:r>
              <a:rPr lang="en-US" altLang="zh-CN" sz="3000" spc="-10" dirty="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Direct three-class classification: PD, PD-plus, and Healthy Controls</a:t>
            </a:r>
          </a:p>
          <a:p>
            <a:pPr marL="469900" indent="-457200">
              <a:lnSpc>
                <a:spcPct val="100000"/>
              </a:lnSpc>
              <a:spcBef>
                <a:spcPts val="395"/>
              </a:spcBef>
              <a:buFont typeface="Arial" panose="020B0604020202090204" pitchFamily="34" charset="0"/>
              <a:buChar char="•"/>
            </a:pPr>
            <a:r>
              <a:rPr lang="en-US" altLang="zh-CN" sz="3000" spc="-10" dirty="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Tabular Transformer and five traditional ML models applied independently</a:t>
            </a:r>
          </a:p>
          <a:p>
            <a:pPr marL="469900" indent="-457200">
              <a:lnSpc>
                <a:spcPct val="100000"/>
              </a:lnSpc>
              <a:spcBef>
                <a:spcPts val="395"/>
              </a:spcBef>
              <a:buFont typeface="Arial" panose="020B0604020202090204" pitchFamily="34" charset="0"/>
              <a:buChar char="•"/>
            </a:pPr>
            <a:r>
              <a:rPr lang="en-US" altLang="zh-CN" sz="3000" spc="-10" dirty="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All models evaluated on the same held-out test set (20%)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76099" y="17787863"/>
            <a:ext cx="1761348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spc="-112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Healthy Controls vs Parkinson’s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0407" y="8721769"/>
            <a:ext cx="8414790" cy="784830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en-US" sz="4500" b="1" spc="-112" dirty="0">
                <a:solidFill>
                  <a:schemeClr val="bg1"/>
                </a:solidFill>
                <a:latin typeface="Century Gothic" panose="020B0502020202020204" pitchFamily="34" charset="0"/>
                <a:cs typeface="Segoe UI" panose="020B0502040204020203" pitchFamily="34" charset="0"/>
              </a:rPr>
              <a:t>Background</a:t>
            </a:r>
            <a:endParaRPr lang="en-US" sz="4500" dirty="0">
              <a:solidFill>
                <a:schemeClr val="bg1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804064" y="4608008"/>
            <a:ext cx="119077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spcBef>
                <a:spcPts val="395"/>
              </a:spcBef>
            </a:pPr>
            <a:r>
              <a:rPr lang="en-US" sz="3600" spc="-10" dirty="0">
                <a:solidFill>
                  <a:srgbClr val="0070C0"/>
                </a:solidFill>
                <a:latin typeface="Times New Roman" panose="02020503050405090304" charset="0"/>
                <a:cs typeface="Times New Roman" panose="02020503050405090304" charset="0"/>
              </a:rPr>
              <a:t>Demographic and Clinical Characteristics by Diagnosis Group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943707" y="4715214"/>
            <a:ext cx="1761348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spc="-112" dirty="0">
                <a:solidFill>
                  <a:srgbClr val="0070C0"/>
                </a:solidFill>
                <a:latin typeface="Times New Roman" panose="02020503050405090304" charset="0"/>
                <a:cs typeface="Times New Roman" panose="02020503050405090304" charset="0"/>
              </a:rPr>
              <a:t>2. SHAP Analysis: Risk Drivers of Predictions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50095" y="2441241"/>
            <a:ext cx="20421600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2800" b="0" i="0" u="none" strike="noStrike" dirty="0" err="1">
                <a:solidFill>
                  <a:schemeClr val="bg1"/>
                </a:solidFill>
                <a:effectLst/>
                <a:latin typeface="Georgia" panose="02040502050405090303" pitchFamily="18" charset="0"/>
              </a:rPr>
              <a:t>Shuxi</a:t>
            </a:r>
            <a:r>
              <a:rPr lang="en-US" sz="2800" b="0" i="0" u="none" strike="noStrike" dirty="0">
                <a:solidFill>
                  <a:schemeClr val="bg1"/>
                </a:solidFill>
                <a:effectLst/>
                <a:latin typeface="Georgia" panose="02040502050405090303" pitchFamily="18" charset="0"/>
              </a:rPr>
              <a:t> Wu</a:t>
            </a:r>
            <a:r>
              <a:rPr lang="en-US" sz="2800" b="0" i="0" u="none" strike="noStrike" baseline="30000" dirty="0">
                <a:solidFill>
                  <a:schemeClr val="bg1"/>
                </a:solidFill>
                <a:effectLst/>
                <a:latin typeface="Georgia" panose="02040502050405090303" pitchFamily="18" charset="0"/>
              </a:rPr>
              <a:t>1</a:t>
            </a:r>
            <a:r>
              <a:rPr lang="en-US" sz="2800" b="0" i="0" u="none" strike="noStrike" dirty="0">
                <a:solidFill>
                  <a:schemeClr val="bg1"/>
                </a:solidFill>
                <a:effectLst/>
                <a:latin typeface="Georgia" panose="02040502050405090303" pitchFamily="18" charset="0"/>
              </a:rPr>
              <a:t>, Vivienne Wang</a:t>
            </a:r>
            <a:r>
              <a:rPr lang="en-US" sz="2800" b="0" i="0" u="none" strike="noStrike" baseline="30000" dirty="0">
                <a:solidFill>
                  <a:schemeClr val="bg1"/>
                </a:solidFill>
                <a:effectLst/>
                <a:latin typeface="Georgia" panose="02040502050405090303" pitchFamily="18" charset="0"/>
              </a:rPr>
              <a:t>1</a:t>
            </a:r>
            <a:r>
              <a:rPr lang="en-US" sz="2800" b="0" i="0" u="none" strike="noStrike" dirty="0">
                <a:solidFill>
                  <a:schemeClr val="bg1"/>
                </a:solidFill>
                <a:effectLst/>
                <a:latin typeface="Georgia" panose="02040502050405090303" pitchFamily="18" charset="0"/>
              </a:rPr>
              <a:t>, </a:t>
            </a:r>
            <a:r>
              <a:rPr lang="en-US" sz="2800" b="0" i="0" u="none" strike="noStrike" dirty="0" err="1">
                <a:solidFill>
                  <a:schemeClr val="bg1"/>
                </a:solidFill>
                <a:effectLst/>
                <a:latin typeface="Georgia" panose="02040502050405090303" pitchFamily="18" charset="0"/>
              </a:rPr>
              <a:t>Jianyue</a:t>
            </a:r>
            <a:r>
              <a:rPr lang="en-US" sz="2800" b="0" i="0" u="none" strike="noStrike" dirty="0">
                <a:solidFill>
                  <a:schemeClr val="bg1"/>
                </a:solidFill>
                <a:effectLst/>
                <a:latin typeface="Georgia" panose="02040502050405090303" pitchFamily="18" charset="0"/>
              </a:rPr>
              <a:t> Bai</a:t>
            </a:r>
            <a:r>
              <a:rPr lang="en-US" sz="2800" b="0" i="0" u="none" strike="noStrike" baseline="30000" dirty="0">
                <a:solidFill>
                  <a:schemeClr val="bg1"/>
                </a:solidFill>
                <a:effectLst/>
                <a:latin typeface="Georgia" panose="02040502050405090303" pitchFamily="18" charset="0"/>
              </a:rPr>
              <a:t>1</a:t>
            </a:r>
            <a:r>
              <a:rPr lang="en-US" sz="2800" b="0" i="0" u="none" strike="noStrike" dirty="0">
                <a:solidFill>
                  <a:schemeClr val="bg1"/>
                </a:solidFill>
                <a:effectLst/>
                <a:latin typeface="Georgia" panose="02040502050405090303" pitchFamily="18" charset="0"/>
              </a:rPr>
              <a:t>, Javier Mencia Ledo</a:t>
            </a:r>
            <a:r>
              <a:rPr lang="en-US" sz="2800" b="0" i="0" u="none" strike="noStrike" baseline="30000" dirty="0">
                <a:solidFill>
                  <a:schemeClr val="bg1"/>
                </a:solidFill>
                <a:effectLst/>
                <a:latin typeface="Georgia" panose="02040502050405090303" pitchFamily="18" charset="0"/>
              </a:rPr>
              <a:t>1</a:t>
            </a:r>
            <a:endParaRPr lang="en-US" sz="2800" b="0" dirty="0">
              <a:solidFill>
                <a:schemeClr val="bg1"/>
              </a:solidFill>
              <a:effectLst/>
            </a:endParaRPr>
          </a:p>
          <a:p>
            <a:pPr algn="ctr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2000" b="0" i="0" u="none" strike="noStrike" baseline="30000" dirty="0">
                <a:solidFill>
                  <a:schemeClr val="bg1"/>
                </a:solidFill>
                <a:effectLst/>
                <a:latin typeface="Georgia" panose="02040502050405090303" pitchFamily="18" charset="0"/>
              </a:rPr>
              <a:t>1</a:t>
            </a:r>
            <a:r>
              <a:rPr lang="en-US" sz="2000" b="0" i="0" u="none" strike="noStrike" dirty="0">
                <a:solidFill>
                  <a:schemeClr val="bg1"/>
                </a:solidFill>
                <a:effectLst/>
                <a:latin typeface="Georgia" panose="02040502050405090303" pitchFamily="18" charset="0"/>
              </a:rPr>
              <a:t>Dalla Lana School of Public Health, Biostatistics Division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99504" y="12823509"/>
            <a:ext cx="8443444" cy="784830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en-US" sz="4500" b="1" spc="-112" dirty="0">
                <a:solidFill>
                  <a:schemeClr val="bg1"/>
                </a:solidFill>
                <a:latin typeface="Century Gothic" panose="020B0502020202020204" pitchFamily="34" charset="0"/>
                <a:cs typeface="Segoe UI" panose="020B0502040204020203" pitchFamily="34" charset="0"/>
              </a:rPr>
              <a:t>Objectives</a:t>
            </a:r>
            <a:endParaRPr lang="en-US" sz="4500" dirty="0">
              <a:solidFill>
                <a:schemeClr val="bg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133159" y="16424272"/>
            <a:ext cx="8443444" cy="784830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en-US" sz="4500" b="1" spc="-112" dirty="0">
                <a:solidFill>
                  <a:schemeClr val="bg1"/>
                </a:solidFill>
                <a:latin typeface="Century Gothic" panose="020B0502020202020204" pitchFamily="34" charset="0"/>
                <a:cs typeface="Segoe UI" panose="020B0502040204020203" pitchFamily="34" charset="0"/>
              </a:rPr>
              <a:t>Methods</a:t>
            </a:r>
            <a:endParaRPr lang="en-US" sz="4500" dirty="0">
              <a:solidFill>
                <a:schemeClr val="bg1"/>
              </a:solidFill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8804257" y="3885682"/>
            <a:ext cx="23881014" cy="784830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en-US" sz="4500" b="1" spc="-112" dirty="0">
                <a:solidFill>
                  <a:schemeClr val="bg1"/>
                </a:solidFill>
                <a:latin typeface="Century Gothic" panose="020B0502020202020204" pitchFamily="34" charset="0"/>
                <a:cs typeface="Segoe UI" panose="020B0502040204020203" pitchFamily="34" charset="0"/>
              </a:rPr>
              <a:t>Results</a:t>
            </a:r>
            <a:endParaRPr lang="en-US" sz="4500" dirty="0">
              <a:solidFill>
                <a:schemeClr val="bg1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20767618" y="25927742"/>
            <a:ext cx="11642090" cy="783590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en-US" sz="4500" b="1" spc="-112" dirty="0">
                <a:solidFill>
                  <a:schemeClr val="bg1"/>
                </a:solidFill>
                <a:latin typeface="Century Gothic" panose="020B0502020202020204" pitchFamily="34" charset="0"/>
                <a:cs typeface="Segoe UI" panose="020B0502040204020203" pitchFamily="34" charset="0"/>
              </a:rPr>
              <a:t>Conclusion</a:t>
            </a:r>
            <a:endParaRPr lang="en-US" sz="4500" dirty="0">
              <a:solidFill>
                <a:schemeClr val="bg1"/>
              </a:solidFill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189957" y="3899782"/>
            <a:ext cx="8443444" cy="784830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en-US" sz="4500" b="1" spc="-112" dirty="0">
                <a:solidFill>
                  <a:schemeClr val="bg1"/>
                </a:solidFill>
                <a:latin typeface="Century Gothic" panose="020B0502020202020204" pitchFamily="34" charset="0"/>
                <a:cs typeface="Segoe UI" panose="020B0502040204020203" pitchFamily="34" charset="0"/>
              </a:rPr>
              <a:t>Overview</a:t>
            </a:r>
            <a:endParaRPr lang="en-US" sz="4500" dirty="0">
              <a:solidFill>
                <a:schemeClr val="bg1"/>
              </a:solidFill>
            </a:endParaRPr>
          </a:p>
        </p:txBody>
      </p:sp>
      <p:pic>
        <p:nvPicPr>
          <p:cNvPr id="1028" name="Picture 4" descr="Communications &amp; Branding Resources - Dalla Lana School of Public Health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004" y="2122383"/>
            <a:ext cx="4276326" cy="12444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86" name="Table 8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1783618"/>
              </p:ext>
            </p:extLst>
          </p:nvPr>
        </p:nvGraphicFramePr>
        <p:xfrm>
          <a:off x="8804257" y="5308270"/>
          <a:ext cx="11966870" cy="12502475"/>
        </p:xfrm>
        <a:graphic>
          <a:graphicData uri="http://schemas.openxmlformats.org/drawingml/2006/table">
            <a:tbl>
              <a:tblPr/>
              <a:tblGrid>
                <a:gridCol w="30642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56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25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562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256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5280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600" b="0" dirty="0">
                          <a:solidFill>
                            <a:srgbClr val="000000"/>
                          </a:solidFill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 </a:t>
                      </a: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600" b="0">
                          <a:solidFill>
                            <a:srgbClr val="000000"/>
                          </a:solidFill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Overall</a:t>
                      </a: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600" b="0" dirty="0">
                          <a:solidFill>
                            <a:srgbClr val="000000"/>
                          </a:solidFill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PD</a:t>
                      </a: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600" b="0" dirty="0">
                          <a:solidFill>
                            <a:srgbClr val="000000"/>
                          </a:solidFill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Healthy control</a:t>
                      </a: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600" b="0" dirty="0">
                          <a:solidFill>
                            <a:srgbClr val="000000"/>
                          </a:solidFill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PD-Plus</a:t>
                      </a: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200" b="0" dirty="0">
                          <a:solidFill>
                            <a:srgbClr val="000000"/>
                          </a:solidFill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Sample Size (n)</a:t>
                      </a: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3541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2852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410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171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79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200" b="0" dirty="0">
                          <a:solidFill>
                            <a:srgbClr val="000000"/>
                          </a:solidFill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Current Age</a:t>
                      </a: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66.20 (10.04)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66.59 </a:t>
                      </a:r>
                    </a:p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(9.59)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62.54 (12.22)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66.64 </a:t>
                      </a:r>
                    </a:p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(11.71)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79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200" b="0" dirty="0">
                          <a:solidFill>
                            <a:srgbClr val="000000"/>
                          </a:solidFill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Number of Males</a:t>
                      </a: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1804 (50.9%)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1612 (56.5%)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181</a:t>
                      </a:r>
                    </a:p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(44.1%)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78</a:t>
                      </a:r>
                    </a:p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(45.6%)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151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200" b="0" dirty="0">
                          <a:solidFill>
                            <a:srgbClr val="000000"/>
                          </a:solidFill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Disease Duration</a:t>
                      </a: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9.64</a:t>
                      </a:r>
                    </a:p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(6.01)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9.83</a:t>
                      </a:r>
                    </a:p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(5.98)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---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6.05</a:t>
                      </a:r>
                    </a:p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(5.50)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4215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200" b="0" dirty="0">
                          <a:solidFill>
                            <a:srgbClr val="000000"/>
                          </a:solidFill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MoCA Score</a:t>
                      </a: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26.70 </a:t>
                      </a:r>
                    </a:p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(2.71)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26.58 </a:t>
                      </a:r>
                    </a:p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(2.53)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27.78 </a:t>
                      </a:r>
                    </a:p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(3.15)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22.00 </a:t>
                      </a:r>
                    </a:p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(nan)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79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200" b="0" dirty="0">
                          <a:solidFill>
                            <a:srgbClr val="000000"/>
                          </a:solidFill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BDI Score</a:t>
                      </a: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9.65 </a:t>
                      </a:r>
                    </a:p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(7.53)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9.66 </a:t>
                      </a:r>
                    </a:p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(7.35)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6.24 </a:t>
                      </a:r>
                    </a:p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(5.93)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16.76 (10.45)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0531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200" b="0" dirty="0">
                          <a:solidFill>
                            <a:srgbClr val="000000"/>
                          </a:solidFill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MBI Score</a:t>
                      </a: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0 .94 </a:t>
                      </a:r>
                    </a:p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(4.22)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0.93 </a:t>
                      </a:r>
                    </a:p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(4.09)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0.33 </a:t>
                      </a:r>
                    </a:p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(2.01)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3.24 (</a:t>
                      </a:r>
                    </a:p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8.62)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80708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200" b="0" dirty="0">
                          <a:solidFill>
                            <a:srgbClr val="000000"/>
                          </a:solidFill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EHI Score</a:t>
                      </a: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0.71 (0.46)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0.72 (0.44)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0.66 (0.56)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0.72 (0.50)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0071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200" b="0" dirty="0">
                          <a:solidFill>
                            <a:srgbClr val="000000"/>
                          </a:solidFill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Loss of Smell</a:t>
                      </a: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2537 (72.6%)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2090 (73.3%)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240 (58.5%)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101 </a:t>
                      </a:r>
                    </a:p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(59.1%)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79311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200" b="0" dirty="0">
                          <a:solidFill>
                            <a:srgbClr val="000000"/>
                          </a:solidFill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Right Hand Dominant</a:t>
                      </a: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1888 (53.3%)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1765 (61.9%)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20 </a:t>
                      </a:r>
                    </a:p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(4.9%)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102 </a:t>
                      </a:r>
                    </a:p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(59.6%)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58991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200" b="0" dirty="0">
                          <a:solidFill>
                            <a:srgbClr val="000000"/>
                          </a:solidFill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Regular Exercise</a:t>
                      </a: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1795 (50.7%)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1555 (54.5%)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162 </a:t>
                      </a:r>
                    </a:p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(39.5%)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72 </a:t>
                      </a:r>
                    </a:p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42.1%)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9556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200" b="0" dirty="0">
                          <a:solidFill>
                            <a:srgbClr val="000000"/>
                          </a:solidFill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Coffee Drinker</a:t>
                      </a: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1735 (49.0%)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1480 (51.9%)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160 </a:t>
                      </a:r>
                    </a:p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(39.0%)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90 </a:t>
                      </a:r>
                    </a:p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(52.6%)</a:t>
                      </a: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87" name="Rectangle 5"/>
          <p:cNvSpPr>
            <a:spLocks noChangeArrowheads="1"/>
          </p:cNvSpPr>
          <p:nvPr/>
        </p:nvSpPr>
        <p:spPr bwMode="auto">
          <a:xfrm>
            <a:off x="9981891" y="3241616"/>
            <a:ext cx="369619404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133159" y="13806612"/>
            <a:ext cx="8443444" cy="2439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27050" marR="102235" indent="-514350">
              <a:lnSpc>
                <a:spcPct val="100000"/>
              </a:lnSpc>
              <a:spcBef>
                <a:spcPts val="290"/>
              </a:spcBef>
              <a:buFont typeface="+mj-lt"/>
              <a:buAutoNum type="arabicPeriod"/>
            </a:pPr>
            <a:r>
              <a:rPr lang="en-US" altLang="zh-CN" sz="3000" spc="-20" dirty="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Evaluate and compare the efficacy of various models in differentiating PD, PD-Plus, and neurologically healthy controls.</a:t>
            </a:r>
          </a:p>
          <a:p>
            <a:pPr marL="527050" marR="102235" indent="-514350">
              <a:lnSpc>
                <a:spcPct val="100000"/>
              </a:lnSpc>
              <a:spcBef>
                <a:spcPts val="290"/>
              </a:spcBef>
              <a:buFont typeface="+mj-lt"/>
              <a:buAutoNum type="arabicPeriod"/>
            </a:pPr>
            <a:r>
              <a:rPr lang="en-US" sz="3000" spc="-20" dirty="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Interpret individual predictions and identify key risk drivers through SHAP analysis.</a:t>
            </a:r>
            <a:endParaRPr lang="en-US" sz="3000" spc="-20" dirty="0"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205105" y="4612640"/>
            <a:ext cx="8480425" cy="41090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3200" dirty="0">
                <a:latin typeface="Times New Roman" panose="02020503050405090304" charset="0"/>
                <a:cs typeface="Times New Roman" panose="02020503050405090304" charset="0"/>
              </a:rPr>
              <a:t>Parkinson's disease (PD) and atypical parkinsonism (PD-plus) are clinically difficult to distinguish. Using C-OPN data (n = 3,433), we developed and compared six classification models which includes a Tabular Transformer and five traditional machine learning models. We use them  to differentiate PD, PD-plus and healthy controls using clinical and neuropsychological features.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133350" y="9514840"/>
            <a:ext cx="8282305" cy="33229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3000">
                <a:latin typeface="Times New Roman" panose="02020503050405090304" charset="0"/>
                <a:cs typeface="Times New Roman" panose="02020503050405090304" charset="0"/>
              </a:rPr>
              <a:t>PD is the 2nd most common neurodegenerative disorder, affecting 110,000+ Canadians.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3000">
                <a:latin typeface="Times New Roman" panose="02020503050405090304" charset="0"/>
                <a:cs typeface="Times New Roman" panose="02020503050405090304" charset="0"/>
              </a:rPr>
              <a:t>PD-PLus (PSP,MSA, CSB, DLB) shares motor features with PD but progresses faster and responds poorly to levodopa</a:t>
            </a: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3000">
                <a:latin typeface="Times New Roman" panose="02020503050405090304" charset="0"/>
                <a:cs typeface="Times New Roman" panose="02020503050405090304" charset="0"/>
              </a:rPr>
              <a:t>No Reliable Clinical tool existes to distinguish PD and PD-Plus at scale. </a:t>
            </a:r>
          </a:p>
        </p:txBody>
      </p:sp>
      <p:graphicFrame>
        <p:nvGraphicFramePr>
          <p:cNvPr id="13" name="表格 12"/>
          <p:cNvGraphicFramePr/>
          <p:nvPr>
            <p:extLst>
              <p:ext uri="{D42A27DB-BD31-4B8C-83A1-F6EECF244321}">
                <p14:modId xmlns:p14="http://schemas.microsoft.com/office/powerpoint/2010/main" val="120457783"/>
              </p:ext>
            </p:extLst>
          </p:nvPr>
        </p:nvGraphicFramePr>
        <p:xfrm>
          <a:off x="8542655" y="18618835"/>
          <a:ext cx="12169140" cy="62484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569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6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52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61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59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36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01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34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800"/>
                        <a:t>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800" dirty="0"/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800"/>
                        <a:t>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800"/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80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80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800"/>
                        <a:t>Kappa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3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/>
                        <a:t>Tabular</a:t>
                      </a:r>
                    </a:p>
                    <a:p>
                      <a:pPr algn="ctr">
                        <a:buNone/>
                      </a:pPr>
                      <a:r>
                        <a:rPr lang="en-US" altLang="zh-CN" sz="3400"/>
                        <a:t>Transformer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 b="1" dirty="0"/>
                        <a:t>0.923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 dirty="0"/>
                        <a:t>0.957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 b="1" dirty="0"/>
                        <a:t>0.829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/>
                        <a:t>0.875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 b="1" dirty="0"/>
                        <a:t>0.795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 b="1" dirty="0"/>
                        <a:t>0.710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01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/>
                        <a:t>Logistic </a:t>
                      </a:r>
                    </a:p>
                    <a:p>
                      <a:pPr algn="ctr">
                        <a:buNone/>
                      </a:pPr>
                      <a:r>
                        <a:rPr lang="en-US" altLang="zh-CN" sz="3400"/>
                        <a:t>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/>
                        <a:t>0.905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/>
                        <a:t>0.936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/>
                        <a:t>0.786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/>
                        <a:t>0.841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/>
                        <a:t>0.749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/>
                        <a:t>0.638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941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/>
                        <a:t>Random </a:t>
                      </a:r>
                    </a:p>
                    <a:p>
                      <a:pPr algn="ctr">
                        <a:buNone/>
                      </a:pPr>
                      <a:r>
                        <a:rPr lang="en-US" altLang="zh-CN" sz="3400"/>
                        <a:t>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/>
                        <a:t>0.849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/>
                        <a:t>0.936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/>
                        <a:t>0.703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/>
                        <a:t>0.787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/>
                        <a:t>0.701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/>
                        <a:t>0.529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/>
                        <a:t>SVM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/>
                        <a:t>0.897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/>
                        <a:t>0.928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/>
                        <a:t>0.734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/>
                        <a:t>0.855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/>
                        <a:t>0.676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/>
                        <a:t>0.566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423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 dirty="0"/>
                        <a:t>Gradient</a:t>
                      </a:r>
                    </a:p>
                    <a:p>
                      <a:pPr algn="ctr">
                        <a:buNone/>
                      </a:pPr>
                      <a:r>
                        <a:rPr lang="en-US" altLang="zh-CN" sz="3400" dirty="0"/>
                        <a:t>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/>
                        <a:t>0.920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 b="1" dirty="0"/>
                        <a:t>0.962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/>
                        <a:t>0.818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 b="1" dirty="0"/>
                        <a:t>0.905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/>
                        <a:t>0.762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/>
                        <a:t>0.684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307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 dirty="0"/>
                        <a:t>KNN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 dirty="0"/>
                        <a:t>0.882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/>
                        <a:t>0.865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 dirty="0"/>
                        <a:t>0.661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/>
                        <a:t>0.830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/>
                        <a:t>0.591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400" dirty="0"/>
                        <a:t>0.504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文本框 5"/>
          <p:cNvSpPr txBox="1"/>
          <p:nvPr/>
        </p:nvSpPr>
        <p:spPr>
          <a:xfrm>
            <a:off x="8358505" y="24273510"/>
            <a:ext cx="120510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.</a:t>
            </a:r>
            <a:endParaRPr lang="zh-CN" altLang="en-US"/>
          </a:p>
        </p:txBody>
      </p:sp>
      <p:sp>
        <p:nvSpPr>
          <p:cNvPr id="36" name="文本框 35"/>
          <p:cNvSpPr txBox="1"/>
          <p:nvPr/>
        </p:nvSpPr>
        <p:spPr>
          <a:xfrm>
            <a:off x="20818180" y="26880214"/>
            <a:ext cx="1196687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90204" pitchFamily="34" charset="0"/>
              <a:buChar char="•"/>
            </a:pPr>
            <a:r>
              <a:rPr lang="en-US" altLang="zh-CN" sz="3000" dirty="0">
                <a:latin typeface="Times New Roman" panose="02020503050405090304" charset="0"/>
                <a:cs typeface="Times New Roman" panose="02020503050405090304" charset="0"/>
              </a:rPr>
              <a:t>The Tabular Transformer achieved the strongest overall performance (Accuracy = 0.923, AUC = 0.957, F1 = 0.829) which outperformed all five traditional ML models in three-class classification.</a:t>
            </a:r>
          </a:p>
          <a:p>
            <a:pPr marL="457200" indent="-457200">
              <a:buFont typeface="Arial" panose="020B0604020202090204" pitchFamily="34" charset="0"/>
              <a:buChar char="•"/>
            </a:pPr>
            <a:r>
              <a:rPr lang="en-US" altLang="zh-CN" sz="3000" dirty="0">
                <a:latin typeface="Times New Roman" panose="02020503050405090304" charset="0"/>
                <a:cs typeface="Times New Roman" panose="02020503050405090304" charset="0"/>
              </a:rPr>
              <a:t>PD-plus remained the most challenging class to classify across all models, driven by severe class imbalance (4.6% of sample) and clinical overlap with PD.</a:t>
            </a:r>
          </a:p>
          <a:p>
            <a:pPr marL="457200" indent="-457200">
              <a:buFont typeface="Arial" panose="020B0604020202090204" pitchFamily="34" charset="0"/>
              <a:buChar char="•"/>
            </a:pPr>
            <a:r>
              <a:rPr lang="en-US" altLang="zh-CN" sz="3000" dirty="0">
                <a:latin typeface="Times New Roman" panose="02020503050405090304" charset="0"/>
                <a:cs typeface="Times New Roman" panose="02020503050405090304" charset="0"/>
              </a:rPr>
              <a:t>SHAP analysis revealed distinct predictor profiles: cognitive features (MoCA Attention) and non-motor symptoms dominate AP classification, while gastrointestinal and sleep-related features are more predictive of PD.</a:t>
            </a:r>
          </a:p>
          <a:p>
            <a:pPr marL="457200" indent="-457200">
              <a:buFont typeface="Arial" panose="020B0604020202090204" pitchFamily="34" charset="0"/>
              <a:buChar char="•"/>
            </a:pPr>
            <a:r>
              <a:rPr lang="en-US" altLang="zh-CN" sz="3000" dirty="0">
                <a:latin typeface="Times New Roman" panose="02020503050405090304" charset="0"/>
                <a:cs typeface="Times New Roman" panose="02020503050405090304" charset="0"/>
              </a:rPr>
              <a:t>Future work should incorporate larger PD-plus cohorts and external site-based validation to improve generalizability of the classification model.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48399D7-5C3E-6AFC-142C-D38199AC59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3401" y="24960453"/>
            <a:ext cx="11859321" cy="7985516"/>
          </a:xfrm>
          <a:prstGeom prst="rect">
            <a:avLst/>
          </a:prstGeom>
        </p:spPr>
      </p:pic>
      <p:pic>
        <p:nvPicPr>
          <p:cNvPr id="11" name="Picture 10" descr="A graph with red and blue dots&#10;&#10;AI-generated content may be incorrect.">
            <a:extLst>
              <a:ext uri="{FF2B5EF4-FFF2-40B4-BE49-F238E27FC236}">
                <a16:creationId xmlns:a16="http://schemas.microsoft.com/office/drawing/2014/main" id="{310B429E-020C-6C3E-A15A-4A9EA9831D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735500" y="8927955"/>
            <a:ext cx="11966870" cy="8437415"/>
          </a:xfrm>
          <a:prstGeom prst="rect">
            <a:avLst/>
          </a:prstGeom>
        </p:spPr>
      </p:pic>
      <p:pic>
        <p:nvPicPr>
          <p:cNvPr id="14" name="Picture 13" descr="A graph with red and blue dots&#10;&#10;AI-generated content may be incorrect.">
            <a:extLst>
              <a:ext uri="{FF2B5EF4-FFF2-40B4-BE49-F238E27FC236}">
                <a16:creationId xmlns:a16="http://schemas.microsoft.com/office/drawing/2014/main" id="{1098DD76-A187-CCCF-F08D-F604F7875B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32436" y="17573422"/>
            <a:ext cx="11642089" cy="817251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EABA380-5F70-3BEA-0108-9AA4EF4A0EF3}"/>
              </a:ext>
            </a:extLst>
          </p:cNvPr>
          <p:cNvSpPr txBox="1"/>
          <p:nvPr/>
        </p:nvSpPr>
        <p:spPr>
          <a:xfrm>
            <a:off x="23602967" y="8462193"/>
            <a:ext cx="1761348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1" spc="-112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Beeswarm</a:t>
            </a:r>
            <a:r>
              <a:rPr lang="en-US" sz="4000" b="1" spc="-112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Plot for PD-Plus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ACBBFA-0345-75C9-3628-95869DFB18CE}"/>
              </a:ext>
            </a:extLst>
          </p:cNvPr>
          <p:cNvSpPr txBox="1"/>
          <p:nvPr/>
        </p:nvSpPr>
        <p:spPr>
          <a:xfrm>
            <a:off x="23602967" y="17232742"/>
            <a:ext cx="1761348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1" spc="-112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Beeswarm</a:t>
            </a:r>
            <a:r>
              <a:rPr lang="en-US" sz="4000" b="1" spc="-112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Plot for PD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3A85AFC-A1F4-73F8-B4E1-7B4834169359}"/>
              </a:ext>
            </a:extLst>
          </p:cNvPr>
          <p:cNvSpPr txBox="1"/>
          <p:nvPr/>
        </p:nvSpPr>
        <p:spPr>
          <a:xfrm>
            <a:off x="21123275" y="5403382"/>
            <a:ext cx="11680723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503050405090304" charset="0"/>
                <a:cs typeface="Times New Roman" panose="02020503050405090304" charset="0"/>
              </a:rPr>
              <a:t>SHAP quantifies each feature's contribution to a prediction by computing its marginal impact relative to a baseline expected output.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503050405090304" charset="0"/>
                <a:cs typeface="Times New Roman" panose="02020503050405090304" charset="0"/>
              </a:rPr>
              <a:t>Hoehn &amp; Yahr Stage, Restless Legs, and MoCA Attention were the most influential discriminators, with motor severity and non-motor symptoms driving class separation.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45</TotalTime>
  <Words>829</Words>
  <Application>Microsoft Macintosh PowerPoint</Application>
  <PresentationFormat>Custom</PresentationFormat>
  <Paragraphs>190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Aptos</vt:lpstr>
      <vt:lpstr>Aptos Display</vt:lpstr>
      <vt:lpstr>Arial</vt:lpstr>
      <vt:lpstr>Calibri</vt:lpstr>
      <vt:lpstr>Century Gothic</vt:lpstr>
      <vt:lpstr>Georgia</vt:lpstr>
      <vt:lpstr>Times New Roman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Javier Mencia Ledo</dc:creator>
  <cp:lastModifiedBy>Javier Mencia Ledo</cp:lastModifiedBy>
  <cp:revision>14</cp:revision>
  <dcterms:created xsi:type="dcterms:W3CDTF">2026-04-13T00:28:48Z</dcterms:created>
  <dcterms:modified xsi:type="dcterms:W3CDTF">2026-04-13T03:00:52Z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DB2595F21B4D6A12B5CDD969F91018A2_42</vt:lpwstr>
  </property>
  <property fmtid="{D5CDD505-2E9C-101B-9397-08002B2CF9AE}" pid="3" name="KSOProductBuildVer">
    <vt:lpwstr>2052-12.1.23155.23155</vt:lpwstr>
  </property>
</Properties>
</file>