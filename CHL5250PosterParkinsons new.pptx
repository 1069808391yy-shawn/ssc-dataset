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329184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917"/>
    <p:restoredTop sz="94737"/>
  </p:normalViewPr>
  <p:slideViewPr>
    <p:cSldViewPr snapToGrid="0">
      <p:cViewPr>
        <p:scale>
          <a:sx n="25" d="100"/>
          <a:sy n="25" d="100"/>
        </p:scale>
        <p:origin x="19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5387342"/>
            <a:ext cx="2798064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7289782"/>
            <a:ext cx="246888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8206749"/>
            <a:ext cx="2839212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2029429"/>
            <a:ext cx="2839212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8763000"/>
            <a:ext cx="139903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8763000"/>
            <a:ext cx="139903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752607"/>
            <a:ext cx="2839212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8069582"/>
            <a:ext cx="13926024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2024360"/>
            <a:ext cx="13926024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8069582"/>
            <a:ext cx="13994608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2024360"/>
            <a:ext cx="1399460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194560"/>
            <a:ext cx="1061704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4739647"/>
            <a:ext cx="1666494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9875520"/>
            <a:ext cx="10617041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194560"/>
            <a:ext cx="1061704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4739647"/>
            <a:ext cx="16664940" cy="233934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9875520"/>
            <a:ext cx="10617041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752600"/>
            <a:ext cx="709803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752600"/>
            <a:ext cx="2088261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752607"/>
            <a:ext cx="2839212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8763000"/>
            <a:ext cx="2839212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E097D-BF14-0048-A1F1-91A4B3DB23C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9E7E3-3D05-DC41-B909-139336B5BB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406" y="182880"/>
            <a:ext cx="32504865" cy="338190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29059" y="641851"/>
            <a:ext cx="27670066" cy="167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algn="ctr">
              <a:lnSpc>
                <a:spcPct val="107000"/>
              </a:lnSpc>
              <a:spcBef>
                <a:spcPts val="20"/>
              </a:spcBef>
            </a:pPr>
            <a:r>
              <a:rPr lang="en-US" sz="5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Segoe UI" panose="020B0502040204020203" pitchFamily="34" charset="0"/>
              </a:rPr>
              <a:t>Differential Diagnosis across the Parkinsonian Spectrum</a:t>
            </a:r>
            <a:endParaRPr lang="en-US" sz="5400" b="1" kern="1200" dirty="0">
              <a:solidFill>
                <a:schemeClr val="bg1"/>
              </a:solidFill>
              <a:latin typeface="Century Gothic" panose="020B0502020202020204" pitchFamily="34" charset="0"/>
              <a:ea typeface="+mn-ea"/>
              <a:cs typeface="Segoe UI" panose="020B0502040204020203" pitchFamily="34" charset="0"/>
            </a:endParaRPr>
          </a:p>
          <a:p>
            <a:pPr marL="12065" marR="5080" algn="ctr">
              <a:lnSpc>
                <a:spcPct val="107000"/>
              </a:lnSpc>
              <a:spcBef>
                <a:spcPts val="20"/>
              </a:spcBef>
            </a:pPr>
            <a:r>
              <a:rPr lang="en-US" sz="4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entury Gothic" panose="020B0502020202020204" pitchFamily="34" charset="0"/>
              </a:rPr>
              <a:t>Multi-Center Validation of Classification Models for PD, PD-Plus, and Neurologically Healthy Controls</a:t>
            </a:r>
            <a:endParaRPr lang="en-US" sz="4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3350" y="17858740"/>
            <a:ext cx="8225155" cy="14799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z="3000" spc="-10" dirty="0">
                <a:solidFill>
                  <a:srgbClr val="0070C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Variables: </a:t>
            </a:r>
            <a:endParaRPr lang="en-US" sz="3000" spc="-10" dirty="0">
              <a:solidFill>
                <a:srgbClr val="0070C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84200" indent="-5715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sz="3000" spc="-10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Demographics: Age at visit, Gender</a:t>
            </a:r>
            <a:endParaRPr lang="en-US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84200" indent="-5715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Clinical: disease duration, age at diagnosis, current symptoms, symptom laterality, loss of smell, dominant hand, exercise, coffee intake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84200" indent="-5715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Behavioural: MBI-C, BDI-II, MoCA, EHI score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 indent="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None/>
            </a:pPr>
            <a:r>
              <a:rPr lang="en-US" altLang="zh-CN" sz="3000" spc="-10" dirty="0">
                <a:solidFill>
                  <a:srgbClr val="0070C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Preprocessing:</a:t>
            </a:r>
            <a:endParaRPr lang="en-US" altLang="zh-CN" sz="3000" spc="-10" dirty="0">
              <a:solidFill>
                <a:srgbClr val="0070C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AutoNum type="arabicPeriod"/>
            </a:pPr>
            <a:r>
              <a:rPr lang="en-US" altLang="zh-CN" sz="3000" spc="-10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Median imputation for continuous variables; constant "missing" imputation for categorical variables to handle high missingness rates.</a:t>
            </a:r>
            <a:endParaRPr lang="en-US" altLang="zh-CN" sz="3000" spc="-10" dirty="0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AutoNum type="arabicPeriod"/>
            </a:pPr>
            <a:r>
              <a:rPr lang="en-US" altLang="zh-CN" sz="3000" spc="-10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StandardScaler for continuous variables; one-hot encoding for categorical variables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AutoNum type="arabicPeriod"/>
            </a:pPr>
            <a:r>
              <a:rPr lang="en-US" altLang="zh-CN" sz="3000" spc="-10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SMOTE applied to address class imbalance.</a:t>
            </a:r>
            <a:endParaRPr lang="en-US" altLang="zh-CN" sz="3000" spc="-10" dirty="0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12700" indent="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None/>
            </a:pPr>
            <a:r>
              <a:rPr lang="en-US" altLang="zh-CN" sz="3000" spc="-10" dirty="0">
                <a:solidFill>
                  <a:srgbClr val="0070C0"/>
                </a:solidFill>
                <a:latin typeface="Times New Roman" panose="02020503050405090304" charset="0"/>
                <a:cs typeface="Times New Roman" panose="02020503050405090304" charset="0"/>
              </a:rPr>
              <a:t>5 Candidate Models: </a:t>
            </a:r>
            <a:endParaRPr lang="en-US" altLang="zh-CN" sz="3000" spc="-10" dirty="0">
              <a:solidFill>
                <a:srgbClr val="0070C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 indent="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None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Tabular Transformer, Logistic Regression, Random Forest, SVM, Gradient Boosting, KNN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 indent="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None/>
            </a:pPr>
            <a:r>
              <a:rPr lang="en-US" altLang="zh-CN" sz="3000" spc="-10" dirty="0">
                <a:solidFill>
                  <a:srgbClr val="0070C0"/>
                </a:solidFill>
                <a:latin typeface="Times New Roman" panose="02020503050405090304" charset="0"/>
                <a:cs typeface="Times New Roman" panose="02020503050405090304" charset="0"/>
              </a:rPr>
              <a:t>Model Selection:</a:t>
            </a:r>
            <a:endParaRPr lang="en-US" altLang="zh-CN" sz="3000" spc="-10" dirty="0">
              <a:solidFill>
                <a:srgbClr val="0070C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3-fold CV optimized on weighted F1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Hyperparameter tuning via GridSearchCV with per-class threshold optimization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 algn="l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Final model selected based on Accuracy, Macro AUC, Macro F1, and Kappa on a held-out test set (20%) Modelling Diagnosis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 indent="0" algn="l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None/>
            </a:pPr>
            <a:r>
              <a:rPr lang="en-US" altLang="zh-CN" sz="3000" spc="-10" dirty="0">
                <a:solidFill>
                  <a:srgbClr val="0070C0"/>
                </a:solidFill>
                <a:latin typeface="Times New Roman" panose="02020503050405090304" charset="0"/>
                <a:cs typeface="Times New Roman" panose="02020503050405090304" charset="0"/>
              </a:rPr>
              <a:t>Model Diagonosis:</a:t>
            </a:r>
            <a:endParaRPr lang="en-US" altLang="zh-CN" sz="3000" spc="-10" dirty="0">
              <a:solidFill>
                <a:srgbClr val="0070C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Direct three-class classification: PD, PD-plus, and Healthy Controls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Tabular Transformer and five traditional ML models applied independently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395"/>
              </a:spcBef>
              <a:buFont typeface="Arial" panose="020B0604020202090204" pitchFamily="34" charset="0"/>
              <a:buChar char="•"/>
            </a:pPr>
            <a:r>
              <a:rPr lang="en-US" altLang="zh-CN" sz="3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All models evaluated on the same held-out test set (20%)</a:t>
            </a:r>
            <a:endParaRPr lang="en-US" altLang="zh-CN" sz="30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76099" y="17787863"/>
            <a:ext cx="17613482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spc="-112" dirty="0">
                <a:solidFill>
                  <a:schemeClr val="tx2"/>
                </a:solidFill>
                <a:latin typeface="Times New Roman" panose="02020503050405090304" charset="0"/>
                <a:cs typeface="Times New Roman" panose="02020503050405090304" charset="0"/>
              </a:rPr>
              <a:t>1. Healthy Controls vs Parkinson’s</a:t>
            </a:r>
            <a:endParaRPr lang="en-US" sz="4500" spc="-112" dirty="0">
              <a:solidFill>
                <a:schemeClr val="tx2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80407" y="8721769"/>
            <a:ext cx="8414790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Background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04064" y="4608008"/>
            <a:ext cx="10201371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395"/>
              </a:spcBef>
            </a:pPr>
            <a:r>
              <a:rPr lang="en-US" sz="4000" spc="-10" dirty="0">
                <a:solidFill>
                  <a:schemeClr val="tx2"/>
                </a:solidFill>
                <a:latin typeface="Times New Roman" panose="02020503050405090304" charset="0"/>
                <a:cs typeface="Times New Roman" panose="02020503050405090304" charset="0"/>
              </a:rPr>
              <a:t>Data</a:t>
            </a:r>
            <a:endParaRPr lang="en-US" sz="4000" spc="-10" dirty="0">
              <a:solidFill>
                <a:schemeClr val="tx2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943707" y="4715214"/>
            <a:ext cx="17613482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spc="-112" dirty="0">
                <a:solidFill>
                  <a:schemeClr val="tx2"/>
                </a:solidFill>
                <a:latin typeface="Times New Roman" panose="02020503050405090304" charset="0"/>
                <a:cs typeface="Times New Roman" panose="02020503050405090304" charset="0"/>
              </a:rPr>
              <a:t>2. SHAP Analysis: Risk Drivers of redictions</a:t>
            </a:r>
            <a:endParaRPr lang="en-US" sz="4500" spc="-112" dirty="0">
              <a:solidFill>
                <a:schemeClr val="tx2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950095" y="2441241"/>
            <a:ext cx="20421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u="none" strike="noStrike" dirty="0" err="1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Shuxi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 Wu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1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, Vivienne Wang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1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, </a:t>
            </a:r>
            <a:r>
              <a:rPr lang="en-US" sz="2800" b="0" i="0" u="none" strike="noStrike" dirty="0" err="1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Jianyue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 Bai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1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, Javier Mencia Ledo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1</a:t>
            </a:r>
            <a:endParaRPr lang="en-US" sz="2800" b="0" dirty="0">
              <a:solidFill>
                <a:schemeClr val="bg1"/>
              </a:solidFill>
              <a:effectLst/>
            </a:endParaRPr>
          </a:p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0" i="0" u="none" strike="noStrike" baseline="30000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1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Georgia" panose="02040502050405090303" pitchFamily="18" charset="0"/>
              </a:rPr>
              <a:t>Dalla Lana School of Public Health, Biostatistics Division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9504" y="12823509"/>
            <a:ext cx="844344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Objectives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8404" y="17050756"/>
            <a:ext cx="844344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Methods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804257" y="3885682"/>
            <a:ext cx="2388101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Results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0741005" y="24067135"/>
            <a:ext cx="11642090" cy="78359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Conclusion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89957" y="3899782"/>
            <a:ext cx="844344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Overview</a:t>
            </a:r>
            <a:endParaRPr lang="en-US" sz="4500" dirty="0">
              <a:solidFill>
                <a:schemeClr val="bg1"/>
              </a:solidFill>
            </a:endParaRPr>
          </a:p>
        </p:txBody>
      </p:sp>
      <p:pic>
        <p:nvPicPr>
          <p:cNvPr id="1028" name="Picture 4" descr="Communications &amp; Branding Resources - Dalla Lana School of Public Healt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4" y="2122383"/>
            <a:ext cx="4276326" cy="124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6" name="Table 85"/>
          <p:cNvGraphicFramePr>
            <a:graphicFrameLocks noGrp="1"/>
          </p:cNvGraphicFramePr>
          <p:nvPr/>
        </p:nvGraphicFramePr>
        <p:xfrm>
          <a:off x="8804257" y="5308270"/>
          <a:ext cx="11966575" cy="12506325"/>
        </p:xfrm>
        <a:graphic>
          <a:graphicData uri="http://schemas.openxmlformats.org/drawingml/2006/table">
            <a:tbl>
              <a:tblPr/>
              <a:tblGrid>
                <a:gridCol w="3064266"/>
                <a:gridCol w="2225651"/>
                <a:gridCol w="2225675"/>
                <a:gridCol w="2225627"/>
                <a:gridCol w="2225651"/>
              </a:tblGrid>
              <a:tr h="852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 </a:t>
                      </a:r>
                      <a:endParaRPr lang="en-US" sz="3600" b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Overall</a:t>
                      </a:r>
                      <a:endParaRPr lang="en-US" sz="3600" b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PD</a:t>
                      </a:r>
                      <a:endParaRPr lang="en-US" sz="36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Healthy control</a:t>
                      </a:r>
                      <a:endParaRPr lang="en-US" sz="36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6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PD-Plus</a:t>
                      </a:r>
                      <a:endParaRPr lang="en-US" sz="36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Sample Size (n)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3541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2852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410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171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9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Current Age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66.20 (10.04)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66.59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(9.59)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62.54 (12.22)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66.64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(11.71)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9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Number of Males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1804 (50.9%)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1612 (56.5%)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181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(44.1%)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78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(45.6%)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15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Disease Duration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9.64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(6.01)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9.83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(5.98)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---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6.05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(5.50)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21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MoCA Score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26.70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(2.71)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26.58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(2.53)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27.78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(3.15)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22.00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(nan)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9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BDI Score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9.65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(7.53)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9.66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(7.35)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6.24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(5.93)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16.76 (10.45)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53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MBI Score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0 .94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(4.22)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0.93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(4.09)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0.33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(2.01)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3.24 (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8.62)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70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EHI Score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0.71 (0.46)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0.72 (0.44)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0.66 (0.56)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0.72 (0.50)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7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Loss of Smell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2537 (72.6%)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2090 (73.3%)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240 (58.5%)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101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(59.1%)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Right Hand Dominant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1888 (53.3%)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1765 (61.9%)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20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(4.9%)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102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(59.6%)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Regular Exercise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1795 (50.7%)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1555 (54.5%)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162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(39.5%)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72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42.1%)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5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Coffee Drinker</a:t>
                      </a:r>
                      <a:endParaRPr lang="en-US" sz="3200" b="0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5279" marB="52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1735 (49.0%)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1480 (51.9%)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160 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(39.0%)</a:t>
                      </a:r>
                      <a:endParaRPr lang="en-US" sz="3200" b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90 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  <a:p>
                      <a:pPr algn="ctr"/>
                      <a:r>
                        <a:rPr lang="en-US" sz="3200" b="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(52.6%)</a:t>
                      </a:r>
                      <a:endParaRPr lang="en-US" sz="3200" b="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0559" marR="10559" marT="10559" marB="10559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" name="Rectangle 5"/>
          <p:cNvSpPr>
            <a:spLocks noChangeArrowheads="1"/>
          </p:cNvSpPr>
          <p:nvPr/>
        </p:nvSpPr>
        <p:spPr bwMode="auto">
          <a:xfrm>
            <a:off x="9981891" y="3241616"/>
            <a:ext cx="3696194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33159" y="13630767"/>
            <a:ext cx="8443444" cy="339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7050" marR="102235" indent="-514350">
              <a:lnSpc>
                <a:spcPct val="100000"/>
              </a:lnSpc>
              <a:spcBef>
                <a:spcPts val="290"/>
              </a:spcBef>
              <a:buFont typeface="+mj-lt"/>
              <a:buAutoNum type="arabicPeriod"/>
            </a:pPr>
            <a:r>
              <a:rPr lang="en-US" altLang="zh-CN" sz="30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Evaluate and compare the efficacy of various models in differentiating PD, PD-Plus, and neurologically healthy controls.</a:t>
            </a:r>
            <a:endParaRPr lang="en-US" altLang="zh-CN" sz="3000" spc="-2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27050" marR="102235" indent="-514350">
              <a:lnSpc>
                <a:spcPct val="100000"/>
              </a:lnSpc>
              <a:spcBef>
                <a:spcPts val="290"/>
              </a:spcBef>
              <a:buFont typeface="+mj-lt"/>
              <a:buAutoNum type="arabicPeriod"/>
            </a:pPr>
            <a:r>
              <a:rPr lang="en-US" altLang="zh-CN" sz="30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Apply threshold optimization to improve classification of the minority class (PD-plus).</a:t>
            </a:r>
            <a:endParaRPr lang="en-US" altLang="zh-CN" sz="3000" spc="-2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27050" marR="102235" indent="-514350">
              <a:lnSpc>
                <a:spcPct val="100000"/>
              </a:lnSpc>
              <a:spcBef>
                <a:spcPts val="290"/>
              </a:spcBef>
              <a:buFont typeface="+mj-lt"/>
              <a:buAutoNum type="arabicPeriod"/>
            </a:pPr>
            <a:r>
              <a:rPr lang="en-US" sz="30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Interpret individual predictions and identify key risk drivers through SHAP analysis.</a:t>
            </a:r>
            <a:endParaRPr lang="en-US" sz="3000" spc="-2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5105" y="4612640"/>
            <a:ext cx="84804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Times New Roman" panose="02020503050405090304" charset="0"/>
                <a:cs typeface="Times New Roman" panose="02020503050405090304" charset="0"/>
              </a:rPr>
              <a:t>Parkinson's disease (PD) and atypical parkinsonism (PD-plus) are clinically difficult to distinguish. Using C-OPN data (n = 3,433), we developed and compared six classification models </a:t>
            </a:r>
            <a:r>
              <a:rPr lang="en-US" altLang="zh-CN" sz="3200">
                <a:latin typeface="Times New Roman" panose="02020503050405090304" charset="0"/>
                <a:cs typeface="Times New Roman" panose="02020503050405090304" charset="0"/>
              </a:rPr>
              <a:t>which includes a Tabular Transformer and five traditional machine learning models. We use them  to differentiate PD, PD-plus and healthy controls using clinical and neuropsychological features.</a:t>
            </a:r>
            <a:endParaRPr lang="en-US" altLang="zh-CN" sz="32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3350" y="9514840"/>
            <a:ext cx="828230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3000">
                <a:latin typeface="Times New Roman" panose="02020503050405090304" charset="0"/>
                <a:cs typeface="Times New Roman" panose="02020503050405090304" charset="0"/>
              </a:rPr>
              <a:t>PD is the 2nd most common neurodegenerative disorder, affecting 110,000+ Canadians.</a:t>
            </a:r>
            <a:endParaRPr lang="en-US" altLang="zh-CN" sz="300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3000">
                <a:latin typeface="Times New Roman" panose="02020503050405090304" charset="0"/>
                <a:cs typeface="Times New Roman" panose="02020503050405090304" charset="0"/>
              </a:rPr>
              <a:t>PD-PLus (PSP,MSA, CSB, DLB) shares motor features with PD but progresses faster and responds poorly to levodopa</a:t>
            </a:r>
            <a:endParaRPr lang="en-US" altLang="zh-CN" sz="300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3000">
                <a:latin typeface="Times New Roman" panose="02020503050405090304" charset="0"/>
                <a:cs typeface="Times New Roman" panose="02020503050405090304" charset="0"/>
              </a:rPr>
              <a:t>No Reliable Clinical tool existes to distinguish PD and PD-Plus at scale. </a:t>
            </a:r>
            <a:endParaRPr lang="en-US" altLang="zh-CN" sz="3000">
              <a:latin typeface="Times New Roman" panose="02020503050405090304" charset="0"/>
              <a:cs typeface="Times New Roman" panose="02020503050405090304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8542655" y="18618835"/>
          <a:ext cx="12169140" cy="624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69845"/>
                <a:gridCol w="1876425"/>
                <a:gridCol w="1452880"/>
                <a:gridCol w="1306195"/>
                <a:gridCol w="1925955"/>
                <a:gridCol w="1336040"/>
                <a:gridCol w="1701800"/>
              </a:tblGrid>
              <a:tr h="2349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 Model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Accuracy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AUC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F1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Precision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Recall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Kappa</a:t>
                      </a:r>
                      <a:endParaRPr lang="en-US" altLang="zh-CN" sz="2800"/>
                    </a:p>
                  </a:txBody>
                  <a:tcPr/>
                </a:tc>
              </a:tr>
              <a:tr h="500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Tabular</a:t>
                      </a:r>
                      <a:endParaRPr lang="en-US" altLang="zh-CN" sz="3400"/>
                    </a:p>
                    <a:p>
                      <a:pPr algn="ctr">
                        <a:buNone/>
                      </a:pPr>
                      <a:r>
                        <a:rPr lang="en-US" altLang="zh-CN" sz="3400"/>
                        <a:t>Transformer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0.923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0.957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0.829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0.875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0.795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0.710</a:t>
                      </a:r>
                      <a:endParaRPr lang="en-US" altLang="zh-CN" sz="3400"/>
                    </a:p>
                  </a:txBody>
                  <a:tcPr/>
                </a:tc>
              </a:tr>
              <a:tr h="8801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Logistic </a:t>
                      </a:r>
                      <a:endParaRPr lang="en-US" altLang="zh-CN" sz="3400"/>
                    </a:p>
                    <a:p>
                      <a:pPr algn="ctr">
                        <a:buNone/>
                      </a:pPr>
                      <a:r>
                        <a:rPr lang="en-US" altLang="zh-CN" sz="3400"/>
                        <a:t>Regression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0.905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0.936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0.786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0.841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0.749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0.638</a:t>
                      </a:r>
                      <a:endParaRPr lang="en-US" altLang="zh-CN" sz="3400"/>
                    </a:p>
                  </a:txBody>
                  <a:tcPr/>
                </a:tc>
              </a:tr>
              <a:tr h="3994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Random </a:t>
                      </a:r>
                      <a:endParaRPr lang="en-US" altLang="zh-CN" sz="3400"/>
                    </a:p>
                    <a:p>
                      <a:pPr algn="ctr">
                        <a:buNone/>
                      </a:pPr>
                      <a:r>
                        <a:rPr lang="en-US" altLang="zh-CN" sz="3400"/>
                        <a:t>Forest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0.849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0.936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0.703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0.787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0.701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0.529</a:t>
                      </a:r>
                      <a:endParaRPr lang="en-US" altLang="zh-CN" sz="3400"/>
                    </a:p>
                  </a:txBody>
                  <a:tcPr/>
                </a:tc>
              </a:tr>
              <a:tr h="184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SVM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0.897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0.928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0.734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0.855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0.676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0.566</a:t>
                      </a:r>
                      <a:endParaRPr lang="en-US" altLang="zh-CN" sz="3400"/>
                    </a:p>
                  </a:txBody>
                  <a:tcPr/>
                </a:tc>
              </a:tr>
              <a:tr h="8242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Gradiant</a:t>
                      </a:r>
                      <a:endParaRPr lang="en-US" altLang="zh-CN" sz="3400"/>
                    </a:p>
                    <a:p>
                      <a:pPr algn="ctr">
                        <a:buNone/>
                      </a:pPr>
                      <a:r>
                        <a:rPr lang="en-US" altLang="zh-CN" sz="3400"/>
                        <a:t>Boosting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0.920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0.962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0.818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0.905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0.762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0.684</a:t>
                      </a:r>
                      <a:endParaRPr lang="en-US" altLang="zh-CN" sz="3400"/>
                    </a:p>
                  </a:txBody>
                  <a:tcPr/>
                </a:tc>
              </a:tr>
              <a:tr h="433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KNN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0.882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0.865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0.661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0.830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0.591</a:t>
                      </a:r>
                      <a:endParaRPr lang="en-US" altLang="zh-CN" sz="3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400"/>
                        <a:t>0.504</a:t>
                      </a:r>
                      <a:endParaRPr lang="en-US" altLang="zh-CN" sz="3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358505" y="24273510"/>
            <a:ext cx="12051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</a:t>
            </a:r>
            <a:endParaRPr lang="zh-CN" altLang="en-US"/>
          </a:p>
        </p:txBody>
      </p:sp>
      <p:pic>
        <p:nvPicPr>
          <p:cNvPr id="29" name="图片 28" descr="截屏2026-04-12 19.34.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505" y="25003760"/>
            <a:ext cx="13178790" cy="7722870"/>
          </a:xfrm>
          <a:prstGeom prst="rect">
            <a:avLst/>
          </a:prstGeom>
        </p:spPr>
      </p:pic>
      <p:pic>
        <p:nvPicPr>
          <p:cNvPr id="30" name="图片 29" descr="截屏2026-04-12 20.16.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0850" y="9815195"/>
            <a:ext cx="12051030" cy="6959600"/>
          </a:xfrm>
          <a:prstGeom prst="rect">
            <a:avLst/>
          </a:prstGeom>
        </p:spPr>
      </p:pic>
      <p:pic>
        <p:nvPicPr>
          <p:cNvPr id="31" name="图片 30" descr="截屏2026-04-12 20.17.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5295" y="16980535"/>
            <a:ext cx="11800840" cy="70866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0867370" y="5377180"/>
            <a:ext cx="580771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AP (Atypical Parkinsonism)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pPr indent="0">
              <a:buNone/>
            </a:pPr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1. MoCA Attention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2. Restless Legs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3. Pesticide Exposure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4. Dyskinesia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5. MoCA Abstraction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675080" y="5377180"/>
            <a:ext cx="60928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PD (Parkinson's Disease)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1. Restless Legs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2. Marital Status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3. Constipation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4. Hoehn &amp; Yahr Stage†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4000">
                <a:latin typeface="Times New Roman" panose="02020503050405090304" charset="0"/>
                <a:cs typeface="Times New Roman" panose="02020503050405090304" charset="0"/>
              </a:rPr>
              <a:t>5. MoCA Attention</a:t>
            </a:r>
            <a:endParaRPr lang="en-US" altLang="zh-CN" sz="4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876895" y="9000490"/>
            <a:ext cx="109080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2"/>
                </a:solidFill>
                <a:latin typeface="Times New Roman" panose="02020503050405090304" charset="0"/>
                <a:cs typeface="Times New Roman" panose="02020503050405090304" charset="0"/>
              </a:rPr>
              <a:t>AP &amp; TP Top Predictors</a:t>
            </a:r>
            <a:endParaRPr lang="en-US" altLang="zh-CN" sz="4000">
              <a:solidFill>
                <a:schemeClr val="tx2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1724620" y="24747855"/>
            <a:ext cx="11097260" cy="8170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500">
                <a:latin typeface="Times New Roman" panose="02020503050405090304" charset="0"/>
                <a:cs typeface="Times New Roman" panose="02020503050405090304" charset="0"/>
              </a:rPr>
              <a:t>The Tabular Transformer achieved the strongest overall performance (Accuracy = 0.923, AUC = 0.957, F1 = 0.829) </a:t>
            </a:r>
            <a:r>
              <a:rPr lang="en-US" altLang="zh-CN" sz="3500">
                <a:latin typeface="Times New Roman" panose="02020503050405090304" charset="0"/>
                <a:cs typeface="Times New Roman" panose="02020503050405090304" charset="0"/>
              </a:rPr>
              <a:t>which outperformed all five traditional ML models in three-class classification.</a:t>
            </a:r>
            <a:endParaRPr lang="en-US" altLang="zh-CN" sz="3500">
              <a:latin typeface="Times New Roman" panose="02020503050405090304" charset="0"/>
              <a:cs typeface="Times New Roman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500">
                <a:latin typeface="Times New Roman" panose="02020503050405090304" charset="0"/>
                <a:cs typeface="Times New Roman" panose="02020503050405090304" charset="0"/>
              </a:rPr>
              <a:t>PD-plus remained the most challenging class to classify across all models, driven by severe class imbalance (4.6% of sample) and clinical overlap with PD.</a:t>
            </a:r>
            <a:endParaRPr lang="en-US" altLang="zh-CN" sz="3500">
              <a:latin typeface="Times New Roman" panose="02020503050405090304" charset="0"/>
              <a:cs typeface="Times New Roman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500">
                <a:latin typeface="Times New Roman" panose="02020503050405090304" charset="0"/>
                <a:cs typeface="Times New Roman" panose="02020503050405090304" charset="0"/>
              </a:rPr>
              <a:t>SHAP analysis revealed distinct predictor profiles: cognitive features (MoCA Attention) and non-motor symptoms dominate AP classification, while gastrointestinal and sleep-related features are more predictive of PD.</a:t>
            </a:r>
            <a:endParaRPr lang="en-US" altLang="zh-CN" sz="3500">
              <a:latin typeface="Times New Roman" panose="02020503050405090304" charset="0"/>
              <a:cs typeface="Times New Roman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500">
                <a:latin typeface="Times New Roman" panose="02020503050405090304" charset="0"/>
                <a:cs typeface="Times New Roman" panose="02020503050405090304" charset="0"/>
              </a:rPr>
              <a:t>Future work should incorporate larger PD-plus cohorts and external site-based validation to improve generalizability of the classification model.</a:t>
            </a:r>
            <a:endParaRPr lang="en-US" altLang="zh-CN" sz="350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4337</Words>
  <Application>WPS 文字</Application>
  <PresentationFormat>Custom</PresentationFormat>
  <Paragraphs>335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Arial</vt:lpstr>
      <vt:lpstr>宋体</vt:lpstr>
      <vt:lpstr>Wingdings</vt:lpstr>
      <vt:lpstr>Century Gothic</vt:lpstr>
      <vt:lpstr>苹方-简</vt:lpstr>
      <vt:lpstr>Segoe UI</vt:lpstr>
      <vt:lpstr>Times New Roman</vt:lpstr>
      <vt:lpstr>Cambria</vt:lpstr>
      <vt:lpstr>Tahoma</vt:lpstr>
      <vt:lpstr>Georgia</vt:lpstr>
      <vt:lpstr>Aptos</vt:lpstr>
      <vt:lpstr>Helvetica Neue</vt:lpstr>
      <vt:lpstr>微软雅黑</vt:lpstr>
      <vt:lpstr>汉仪旗黑</vt:lpstr>
      <vt:lpstr>宋体</vt:lpstr>
      <vt:lpstr>Arial Unicode MS</vt:lpstr>
      <vt:lpstr>汉仪书宋二KW</vt:lpstr>
      <vt:lpstr>Aptos Display</vt:lpstr>
      <vt:lpstr>等线</vt:lpstr>
      <vt:lpstr>汉仪中等线KW</vt:lpstr>
      <vt:lpstr>Calibri</vt:lpstr>
      <vt:lpstr>Tahoma</vt:lpstr>
      <vt:lpstr>Songti SC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Mencia Ledo</dc:creator>
  <cp:lastModifiedBy>毋竖锡</cp:lastModifiedBy>
  <cp:revision>12</cp:revision>
  <dcterms:created xsi:type="dcterms:W3CDTF">2026-04-13T00:28:48Z</dcterms:created>
  <dcterms:modified xsi:type="dcterms:W3CDTF">2026-04-13T00:28:48Z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DB2595F21B4D6A12B5CDD969F91018A2_42</vt:lpwstr>
  </property>
  <property fmtid="{D5CDD505-2E9C-101B-9397-08002B2CF9AE}" pid="3" name="KSOProductBuildVer">
    <vt:lpwstr>2052-12.1.23155.23155</vt:lpwstr>
  </property>
</Properties>
</file>